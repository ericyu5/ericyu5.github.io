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3"/>
  </p:notesMasterIdLst>
  <p:sldIdLst>
    <p:sldId id="256" r:id="rId2"/>
    <p:sldId id="257" r:id="rId3"/>
    <p:sldId id="271" r:id="rId4"/>
    <p:sldId id="259" r:id="rId5"/>
    <p:sldId id="269" r:id="rId6"/>
    <p:sldId id="258" r:id="rId7"/>
    <p:sldId id="272" r:id="rId8"/>
    <p:sldId id="260" r:id="rId9"/>
    <p:sldId id="270" r:id="rId10"/>
    <p:sldId id="262" r:id="rId11"/>
    <p:sldId id="276" r:id="rId12"/>
    <p:sldId id="277" r:id="rId13"/>
    <p:sldId id="278" r:id="rId14"/>
    <p:sldId id="261" r:id="rId15"/>
    <p:sldId id="273" r:id="rId16"/>
    <p:sldId id="274" r:id="rId17"/>
    <p:sldId id="279" r:id="rId18"/>
    <p:sldId id="266" r:id="rId19"/>
    <p:sldId id="267" r:id="rId20"/>
    <p:sldId id="268" r:id="rId21"/>
    <p:sldId id="27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5A3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CB2788-3256-351E-AF76-F33ABAC0216C}" v="4" dt="2025-12-17T21:40:35.1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262"/>
    <p:restoredTop sz="79251"/>
  </p:normalViewPr>
  <p:slideViewPr>
    <p:cSldViewPr snapToGrid="0">
      <p:cViewPr varScale="1">
        <p:scale>
          <a:sx n="123" d="100"/>
          <a:sy n="123" d="100"/>
        </p:scale>
        <p:origin x="46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rutgersconnect-my.sharepoint.com/personal/ey247_scarletmail_rutgers_edu/Documents/Powell%20Industries%20Quantitative%20Analysis.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Powell</a:t>
            </a:r>
            <a:r>
              <a:rPr lang="en-US" baseline="0"/>
              <a:t> </a:t>
            </a:r>
            <a:r>
              <a:rPr lang="en-US"/>
              <a:t>Revenue ($ in thousands) from 2020-2024</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Revenue ($ in thousands)</c:v>
                </c:pt>
              </c:strCache>
            </c:strRef>
          </c:tx>
          <c:spPr>
            <a:solidFill>
              <a:schemeClr val="accent1"/>
            </a:solidFill>
            <a:ln>
              <a:noFill/>
            </a:ln>
            <a:effectLst/>
          </c:spPr>
          <c:invertIfNegative val="0"/>
          <c:dPt>
            <c:idx val="0"/>
            <c:invertIfNegative val="0"/>
            <c:bubble3D val="0"/>
            <c:spPr>
              <a:solidFill>
                <a:schemeClr val="accent6">
                  <a:lumMod val="50000"/>
                </a:schemeClr>
              </a:solidFill>
              <a:ln>
                <a:noFill/>
              </a:ln>
              <a:effectLst/>
            </c:spPr>
            <c:extLst>
              <c:ext xmlns:c16="http://schemas.microsoft.com/office/drawing/2014/chart" uri="{C3380CC4-5D6E-409C-BE32-E72D297353CC}">
                <c16:uniqueId val="{00000001-EC1C-1142-98D9-4D9D28B7AE6B}"/>
              </c:ext>
            </c:extLst>
          </c:dPt>
          <c:dPt>
            <c:idx val="1"/>
            <c:invertIfNegative val="0"/>
            <c:bubble3D val="0"/>
            <c:spPr>
              <a:solidFill>
                <a:schemeClr val="accent6">
                  <a:lumMod val="50000"/>
                </a:schemeClr>
              </a:solidFill>
              <a:ln>
                <a:noFill/>
              </a:ln>
              <a:effectLst/>
            </c:spPr>
            <c:extLst>
              <c:ext xmlns:c16="http://schemas.microsoft.com/office/drawing/2014/chart" uri="{C3380CC4-5D6E-409C-BE32-E72D297353CC}">
                <c16:uniqueId val="{00000003-EC1C-1142-98D9-4D9D28B7AE6B}"/>
              </c:ext>
            </c:extLst>
          </c:dPt>
          <c:dPt>
            <c:idx val="2"/>
            <c:invertIfNegative val="0"/>
            <c:bubble3D val="0"/>
            <c:spPr>
              <a:solidFill>
                <a:schemeClr val="accent6">
                  <a:lumMod val="50000"/>
                </a:schemeClr>
              </a:solidFill>
              <a:ln>
                <a:noFill/>
              </a:ln>
              <a:effectLst/>
            </c:spPr>
            <c:extLst>
              <c:ext xmlns:c16="http://schemas.microsoft.com/office/drawing/2014/chart" uri="{C3380CC4-5D6E-409C-BE32-E72D297353CC}">
                <c16:uniqueId val="{00000005-EC1C-1142-98D9-4D9D28B7AE6B}"/>
              </c:ext>
            </c:extLst>
          </c:dPt>
          <c:dPt>
            <c:idx val="3"/>
            <c:invertIfNegative val="0"/>
            <c:bubble3D val="0"/>
            <c:spPr>
              <a:solidFill>
                <a:schemeClr val="accent6">
                  <a:lumMod val="50000"/>
                </a:schemeClr>
              </a:solidFill>
              <a:ln>
                <a:noFill/>
              </a:ln>
              <a:effectLst/>
            </c:spPr>
            <c:extLst>
              <c:ext xmlns:c16="http://schemas.microsoft.com/office/drawing/2014/chart" uri="{C3380CC4-5D6E-409C-BE32-E72D297353CC}">
                <c16:uniqueId val="{00000007-EC1C-1142-98D9-4D9D28B7AE6B}"/>
              </c:ext>
            </c:extLst>
          </c:dPt>
          <c:dPt>
            <c:idx val="4"/>
            <c:invertIfNegative val="0"/>
            <c:bubble3D val="0"/>
            <c:spPr>
              <a:solidFill>
                <a:schemeClr val="accent6">
                  <a:lumMod val="50000"/>
                </a:schemeClr>
              </a:solidFill>
              <a:ln>
                <a:noFill/>
              </a:ln>
              <a:effectLst/>
            </c:spPr>
            <c:extLst>
              <c:ext xmlns:c16="http://schemas.microsoft.com/office/drawing/2014/chart" uri="{C3380CC4-5D6E-409C-BE32-E72D297353CC}">
                <c16:uniqueId val="{00000009-EC1C-1142-98D9-4D9D28B7AE6B}"/>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2020</c:v>
                </c:pt>
                <c:pt idx="1">
                  <c:v>2021</c:v>
                </c:pt>
                <c:pt idx="2">
                  <c:v>2022</c:v>
                </c:pt>
                <c:pt idx="3">
                  <c:v>2023</c:v>
                </c:pt>
                <c:pt idx="4">
                  <c:v>2024</c:v>
                </c:pt>
              </c:numCache>
            </c:numRef>
          </c:cat>
          <c:val>
            <c:numRef>
              <c:f>Sheet1!$B$2:$B$6</c:f>
              <c:numCache>
                <c:formatCode>"$"#,##0.0_);\("$"#,##0.0\)</c:formatCode>
                <c:ptCount val="5"/>
                <c:pt idx="0">
                  <c:v>518499</c:v>
                </c:pt>
                <c:pt idx="1">
                  <c:v>470559</c:v>
                </c:pt>
                <c:pt idx="2">
                  <c:v>532582</c:v>
                </c:pt>
                <c:pt idx="3">
                  <c:v>699308</c:v>
                </c:pt>
                <c:pt idx="4">
                  <c:v>1012356</c:v>
                </c:pt>
              </c:numCache>
            </c:numRef>
          </c:val>
          <c:extLst>
            <c:ext xmlns:c16="http://schemas.microsoft.com/office/drawing/2014/chart" uri="{C3380CC4-5D6E-409C-BE32-E72D297353CC}">
              <c16:uniqueId val="{0000000A-EC1C-1142-98D9-4D9D28B7AE6B}"/>
            </c:ext>
          </c:extLst>
        </c:ser>
        <c:dLbls>
          <c:dLblPos val="outEnd"/>
          <c:showLegendKey val="0"/>
          <c:showVal val="1"/>
          <c:showCatName val="0"/>
          <c:showSerName val="0"/>
          <c:showPercent val="0"/>
          <c:showBubbleSize val="0"/>
        </c:dLbls>
        <c:gapWidth val="219"/>
        <c:overlap val="-27"/>
        <c:axId val="401221648"/>
        <c:axId val="401278736"/>
      </c:barChart>
      <c:catAx>
        <c:axId val="40122164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Year</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01278736"/>
        <c:crosses val="autoZero"/>
        <c:auto val="1"/>
        <c:lblAlgn val="ctr"/>
        <c:lblOffset val="100"/>
        <c:noMultiLvlLbl val="0"/>
      </c:catAx>
      <c:valAx>
        <c:axId val="40127873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Revenue (in thousands)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quot;$&quot;#,##0.0_);\(&quot;$&quot;#,##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0122164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Market Cap (in billions) as of 11/6/2025</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6">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Comps!$B$4:$B$8</c:f>
              <c:strCache>
                <c:ptCount val="5"/>
                <c:pt idx="0">
                  <c:v>Acuity Inc.</c:v>
                </c:pt>
                <c:pt idx="1">
                  <c:v>EnerSys</c:v>
                </c:pt>
                <c:pt idx="2">
                  <c:v>Generac Holdings Inc.</c:v>
                </c:pt>
                <c:pt idx="3">
                  <c:v>Frankin Electric Co., Inc.</c:v>
                </c:pt>
                <c:pt idx="4">
                  <c:v>Powell Industries, Inc. </c:v>
                </c:pt>
              </c:strCache>
            </c:strRef>
          </c:cat>
          <c:val>
            <c:numRef>
              <c:f>Comps!$D$4:$D$8</c:f>
              <c:numCache>
                <c:formatCode>"$"#,##0.00</c:formatCode>
                <c:ptCount val="5"/>
                <c:pt idx="0">
                  <c:v>10.91</c:v>
                </c:pt>
                <c:pt idx="1">
                  <c:v>4.3099999999999996</c:v>
                </c:pt>
                <c:pt idx="2">
                  <c:v>9.9700000000000006</c:v>
                </c:pt>
                <c:pt idx="3">
                  <c:v>4.28</c:v>
                </c:pt>
                <c:pt idx="4">
                  <c:v>3.71</c:v>
                </c:pt>
              </c:numCache>
            </c:numRef>
          </c:val>
          <c:extLst>
            <c:ext xmlns:c16="http://schemas.microsoft.com/office/drawing/2014/chart" uri="{C3380CC4-5D6E-409C-BE32-E72D297353CC}">
              <c16:uniqueId val="{00000000-91BC-9E48-BAEE-61F02972DF66}"/>
            </c:ext>
          </c:extLst>
        </c:ser>
        <c:dLbls>
          <c:showLegendKey val="0"/>
          <c:showVal val="0"/>
          <c:showCatName val="0"/>
          <c:showSerName val="0"/>
          <c:showPercent val="0"/>
          <c:showBubbleSize val="0"/>
        </c:dLbls>
        <c:gapWidth val="219"/>
        <c:overlap val="-27"/>
        <c:axId val="425587744"/>
        <c:axId val="408119776"/>
      </c:barChart>
      <c:catAx>
        <c:axId val="4255877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08119776"/>
        <c:crosses val="autoZero"/>
        <c:auto val="1"/>
        <c:lblAlgn val="ctr"/>
        <c:lblOffset val="100"/>
        <c:noMultiLvlLbl val="0"/>
      </c:catAx>
      <c:valAx>
        <c:axId val="408119776"/>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255877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6_2#1">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9648A1-9C26-7349-A68B-565564CB2397}" type="doc">
      <dgm:prSet loTypeId="urn:microsoft.com/office/officeart/2005/8/layout/cycle4" loCatId="" qsTypeId="urn:microsoft.com/office/officeart/2005/8/quickstyle/simple1#1" qsCatId="simple" csTypeId="urn:microsoft.com/office/officeart/2005/8/colors/accent6_2#1" csCatId="accent6" phldr="1"/>
      <dgm:spPr/>
      <dgm:t>
        <a:bodyPr/>
        <a:lstStyle/>
        <a:p>
          <a:endParaRPr lang="en-US"/>
        </a:p>
      </dgm:t>
    </dgm:pt>
    <dgm:pt modelId="{EA2D914B-CCF5-7E48-85F8-EACF9F67D4AD}">
      <dgm:prSet phldrT="[Text]" custT="1"/>
      <dgm:spPr/>
      <dgm:t>
        <a:bodyPr/>
        <a:lstStyle/>
        <a:p>
          <a:r>
            <a:rPr lang="en-US" sz="1800" b="1"/>
            <a:t>Strengths</a:t>
          </a:r>
        </a:p>
      </dgm:t>
    </dgm:pt>
    <dgm:pt modelId="{42602508-5889-154C-858E-35E89311FEC4}" type="parTrans" cxnId="{C6AAF59A-7F07-DB45-A329-81747B780986}">
      <dgm:prSet/>
      <dgm:spPr/>
      <dgm:t>
        <a:bodyPr/>
        <a:lstStyle/>
        <a:p>
          <a:endParaRPr lang="en-US"/>
        </a:p>
      </dgm:t>
    </dgm:pt>
    <dgm:pt modelId="{9AF80127-25C9-7E4B-99DF-559CA1330BC9}" type="sibTrans" cxnId="{C6AAF59A-7F07-DB45-A329-81747B780986}">
      <dgm:prSet/>
      <dgm:spPr/>
      <dgm:t>
        <a:bodyPr/>
        <a:lstStyle/>
        <a:p>
          <a:endParaRPr lang="en-US"/>
        </a:p>
      </dgm:t>
    </dgm:pt>
    <dgm:pt modelId="{EFB33BA3-DC61-064B-BFE3-3609725FC961}">
      <dgm:prSet phldrT="[Text]" custT="1"/>
      <dgm:spPr/>
      <dgm:t>
        <a:bodyPr/>
        <a:lstStyle/>
        <a:p>
          <a:r>
            <a:rPr lang="en-US" sz="1400"/>
            <a:t>Specialized product offerings</a:t>
          </a:r>
        </a:p>
      </dgm:t>
    </dgm:pt>
    <dgm:pt modelId="{59F411BF-38D1-924C-AD48-852FA8C83A6C}" type="parTrans" cxnId="{8774C8C8-4A2A-744F-ADC2-342B850FE876}">
      <dgm:prSet/>
      <dgm:spPr/>
      <dgm:t>
        <a:bodyPr/>
        <a:lstStyle/>
        <a:p>
          <a:endParaRPr lang="en-US"/>
        </a:p>
      </dgm:t>
    </dgm:pt>
    <dgm:pt modelId="{EDC7DF84-F883-7F4A-9148-1604D4DBF8C2}" type="sibTrans" cxnId="{8774C8C8-4A2A-744F-ADC2-342B850FE876}">
      <dgm:prSet/>
      <dgm:spPr/>
      <dgm:t>
        <a:bodyPr/>
        <a:lstStyle/>
        <a:p>
          <a:endParaRPr lang="en-US"/>
        </a:p>
      </dgm:t>
    </dgm:pt>
    <dgm:pt modelId="{632DC558-2D4B-2941-A133-18183B8EBB8A}">
      <dgm:prSet phldrT="[Text]" custT="1"/>
      <dgm:spPr/>
      <dgm:t>
        <a:bodyPr/>
        <a:lstStyle/>
        <a:p>
          <a:r>
            <a:rPr lang="en-US" sz="1800" b="1"/>
            <a:t>Weaknesses</a:t>
          </a:r>
        </a:p>
      </dgm:t>
    </dgm:pt>
    <dgm:pt modelId="{77A6795C-7332-D44D-8ABC-A89FC278AE00}" type="parTrans" cxnId="{BB51D0DD-180C-3849-B84B-95B4084BACAB}">
      <dgm:prSet/>
      <dgm:spPr/>
      <dgm:t>
        <a:bodyPr/>
        <a:lstStyle/>
        <a:p>
          <a:endParaRPr lang="en-US"/>
        </a:p>
      </dgm:t>
    </dgm:pt>
    <dgm:pt modelId="{51050A97-E1E6-2C45-90F2-BA974D08B60C}" type="sibTrans" cxnId="{BB51D0DD-180C-3849-B84B-95B4084BACAB}">
      <dgm:prSet/>
      <dgm:spPr/>
      <dgm:t>
        <a:bodyPr/>
        <a:lstStyle/>
        <a:p>
          <a:endParaRPr lang="en-US"/>
        </a:p>
      </dgm:t>
    </dgm:pt>
    <dgm:pt modelId="{51BB2F04-C952-0D4D-96F7-A482DA59B721}">
      <dgm:prSet phldrT="[Text]" custT="1"/>
      <dgm:spPr/>
      <dgm:t>
        <a:bodyPr/>
        <a:lstStyle/>
        <a:p>
          <a:r>
            <a:rPr lang="en-US" sz="1400"/>
            <a:t>Small market cap</a:t>
          </a:r>
        </a:p>
      </dgm:t>
    </dgm:pt>
    <dgm:pt modelId="{A03E15D3-40CF-1A43-838A-B7EBDED9E05F}" type="parTrans" cxnId="{125E1465-DB8B-C947-8518-BA6406381DA3}">
      <dgm:prSet/>
      <dgm:spPr/>
      <dgm:t>
        <a:bodyPr/>
        <a:lstStyle/>
        <a:p>
          <a:endParaRPr lang="en-US"/>
        </a:p>
      </dgm:t>
    </dgm:pt>
    <dgm:pt modelId="{94E33AE1-FFBD-8F44-B3BD-5384F889C228}" type="sibTrans" cxnId="{125E1465-DB8B-C947-8518-BA6406381DA3}">
      <dgm:prSet/>
      <dgm:spPr/>
      <dgm:t>
        <a:bodyPr/>
        <a:lstStyle/>
        <a:p>
          <a:endParaRPr lang="en-US"/>
        </a:p>
      </dgm:t>
    </dgm:pt>
    <dgm:pt modelId="{97F932AA-84BA-7442-980A-9F163DF1C003}">
      <dgm:prSet phldrT="[Text]" custT="1"/>
      <dgm:spPr/>
      <dgm:t>
        <a:bodyPr/>
        <a:lstStyle/>
        <a:p>
          <a:r>
            <a:rPr lang="en-US" sz="1800" b="1"/>
            <a:t>Threats</a:t>
          </a:r>
        </a:p>
      </dgm:t>
    </dgm:pt>
    <dgm:pt modelId="{E78C066E-19D9-CD42-9DBA-DEA918E5B5C5}" type="parTrans" cxnId="{FDDB8926-34AC-A546-8FA9-F187E3BC2EE7}">
      <dgm:prSet/>
      <dgm:spPr/>
      <dgm:t>
        <a:bodyPr/>
        <a:lstStyle/>
        <a:p>
          <a:endParaRPr lang="en-US"/>
        </a:p>
      </dgm:t>
    </dgm:pt>
    <dgm:pt modelId="{4727A6F1-D03D-2946-933C-4A87B9CF12AB}" type="sibTrans" cxnId="{FDDB8926-34AC-A546-8FA9-F187E3BC2EE7}">
      <dgm:prSet/>
      <dgm:spPr/>
      <dgm:t>
        <a:bodyPr/>
        <a:lstStyle/>
        <a:p>
          <a:endParaRPr lang="en-US"/>
        </a:p>
      </dgm:t>
    </dgm:pt>
    <dgm:pt modelId="{5AED7ECE-3531-DA45-86B1-A54411860BA9}">
      <dgm:prSet phldrT="[Text]" custT="1"/>
      <dgm:spPr/>
      <dgm:t>
        <a:bodyPr/>
        <a:lstStyle/>
        <a:p>
          <a:r>
            <a:rPr lang="en-US" sz="1400"/>
            <a:t>Intense Competition in EE industry</a:t>
          </a:r>
        </a:p>
      </dgm:t>
    </dgm:pt>
    <dgm:pt modelId="{51732CB9-0FF5-814F-A8AC-87CE7D3E8963}" type="parTrans" cxnId="{47F19255-A136-2543-BF03-DDBCBA4D9A52}">
      <dgm:prSet/>
      <dgm:spPr/>
      <dgm:t>
        <a:bodyPr/>
        <a:lstStyle/>
        <a:p>
          <a:endParaRPr lang="en-US"/>
        </a:p>
      </dgm:t>
    </dgm:pt>
    <dgm:pt modelId="{EBBDE4CC-D38F-F74D-8553-D0A7412417AE}" type="sibTrans" cxnId="{47F19255-A136-2543-BF03-DDBCBA4D9A52}">
      <dgm:prSet/>
      <dgm:spPr/>
      <dgm:t>
        <a:bodyPr/>
        <a:lstStyle/>
        <a:p>
          <a:endParaRPr lang="en-US"/>
        </a:p>
      </dgm:t>
    </dgm:pt>
    <dgm:pt modelId="{B8919DDE-7C14-EB43-8DE1-FE98FAFC5F6A}">
      <dgm:prSet phldrT="[Text]" custT="1"/>
      <dgm:spPr/>
      <dgm:t>
        <a:bodyPr/>
        <a:lstStyle/>
        <a:p>
          <a:r>
            <a:rPr lang="en-US" sz="1600" b="1"/>
            <a:t>Opportunities</a:t>
          </a:r>
          <a:endParaRPr lang="en-US" sz="1700" b="1"/>
        </a:p>
      </dgm:t>
    </dgm:pt>
    <dgm:pt modelId="{F22288BB-D755-FC40-8994-57930DA27A1B}" type="parTrans" cxnId="{7163CBB6-68E5-A64C-92B8-47253BFAE738}">
      <dgm:prSet/>
      <dgm:spPr/>
      <dgm:t>
        <a:bodyPr/>
        <a:lstStyle/>
        <a:p>
          <a:endParaRPr lang="en-US"/>
        </a:p>
      </dgm:t>
    </dgm:pt>
    <dgm:pt modelId="{78A76879-DF35-EB4D-9AE9-758869D23015}" type="sibTrans" cxnId="{7163CBB6-68E5-A64C-92B8-47253BFAE738}">
      <dgm:prSet/>
      <dgm:spPr/>
      <dgm:t>
        <a:bodyPr/>
        <a:lstStyle/>
        <a:p>
          <a:endParaRPr lang="en-US"/>
        </a:p>
      </dgm:t>
    </dgm:pt>
    <dgm:pt modelId="{0E2FA41F-C6A8-C24F-86D2-AD558F7B730E}">
      <dgm:prSet phldrT="[Text]" custT="1"/>
      <dgm:spPr/>
      <dgm:t>
        <a:bodyPr/>
        <a:lstStyle/>
        <a:p>
          <a:r>
            <a:rPr lang="en-US" sz="1200"/>
            <a:t>Geographic Expansion (ex. Asia)</a:t>
          </a:r>
        </a:p>
      </dgm:t>
    </dgm:pt>
    <dgm:pt modelId="{46936B57-3E0C-3B43-83AE-24A7D1B80B91}" type="parTrans" cxnId="{27FDCA9E-13B1-0748-9914-0CCCECBCC348}">
      <dgm:prSet/>
      <dgm:spPr/>
      <dgm:t>
        <a:bodyPr/>
        <a:lstStyle/>
        <a:p>
          <a:endParaRPr lang="en-US"/>
        </a:p>
      </dgm:t>
    </dgm:pt>
    <dgm:pt modelId="{A3233D89-5F72-DA44-A5D7-C880CB8D060D}" type="sibTrans" cxnId="{27FDCA9E-13B1-0748-9914-0CCCECBCC348}">
      <dgm:prSet/>
      <dgm:spPr/>
      <dgm:t>
        <a:bodyPr/>
        <a:lstStyle/>
        <a:p>
          <a:endParaRPr lang="en-US"/>
        </a:p>
      </dgm:t>
    </dgm:pt>
    <dgm:pt modelId="{37741F84-D171-DD4C-BA72-FFD60502A498}">
      <dgm:prSet phldrT="[Text]" custT="1"/>
      <dgm:spPr/>
      <dgm:t>
        <a:bodyPr/>
        <a:lstStyle/>
        <a:p>
          <a:r>
            <a:rPr lang="en-US" sz="1400"/>
            <a:t>Extensive manufacturing</a:t>
          </a:r>
        </a:p>
      </dgm:t>
    </dgm:pt>
    <dgm:pt modelId="{ABF21B4D-8EA3-8C4F-A1BC-BC4E623B9726}" type="parTrans" cxnId="{D128B140-159D-0043-82E8-DFB739E440C3}">
      <dgm:prSet/>
      <dgm:spPr/>
      <dgm:t>
        <a:bodyPr/>
        <a:lstStyle/>
        <a:p>
          <a:endParaRPr lang="en-US"/>
        </a:p>
      </dgm:t>
    </dgm:pt>
    <dgm:pt modelId="{64C18E02-C62F-DE4A-BE29-BD78DAA6EA7C}" type="sibTrans" cxnId="{D128B140-159D-0043-82E8-DFB739E440C3}">
      <dgm:prSet/>
      <dgm:spPr/>
      <dgm:t>
        <a:bodyPr/>
        <a:lstStyle/>
        <a:p>
          <a:endParaRPr lang="en-US"/>
        </a:p>
      </dgm:t>
    </dgm:pt>
    <dgm:pt modelId="{3D16B4D5-7489-F74E-9D20-A61C9977094F}">
      <dgm:prSet phldrT="[Text]" custT="1"/>
      <dgm:spPr/>
      <dgm:t>
        <a:bodyPr/>
        <a:lstStyle/>
        <a:p>
          <a:r>
            <a:rPr lang="en-US" sz="1400"/>
            <a:t>Positive Revenue Growth</a:t>
          </a:r>
        </a:p>
      </dgm:t>
    </dgm:pt>
    <dgm:pt modelId="{1CD3F4CD-BDFC-0340-817E-1788508EB5DC}" type="parTrans" cxnId="{85FB7F9F-5808-4149-80C2-43A144498C2D}">
      <dgm:prSet/>
      <dgm:spPr/>
      <dgm:t>
        <a:bodyPr/>
        <a:lstStyle/>
        <a:p>
          <a:endParaRPr lang="en-US"/>
        </a:p>
      </dgm:t>
    </dgm:pt>
    <dgm:pt modelId="{028618C4-EEE1-3E4D-83B2-DAEEA773984A}" type="sibTrans" cxnId="{85FB7F9F-5808-4149-80C2-43A144498C2D}">
      <dgm:prSet/>
      <dgm:spPr/>
      <dgm:t>
        <a:bodyPr/>
        <a:lstStyle/>
        <a:p>
          <a:endParaRPr lang="en-US"/>
        </a:p>
      </dgm:t>
    </dgm:pt>
    <dgm:pt modelId="{CBBCE72F-DDE6-064B-AE76-1AF2F614F762}">
      <dgm:prSet phldrT="[Text]" custT="1"/>
      <dgm:spPr/>
      <dgm:t>
        <a:bodyPr/>
        <a:lstStyle/>
        <a:p>
          <a:r>
            <a:rPr lang="en-US" sz="1400"/>
            <a:t>Significant concentration in North American market</a:t>
          </a:r>
        </a:p>
      </dgm:t>
    </dgm:pt>
    <dgm:pt modelId="{F73B8ED9-CA85-5444-9ED5-D107A52A8124}" type="parTrans" cxnId="{CAD08E32-07A4-2D40-9EF3-7A0FD2A91599}">
      <dgm:prSet/>
      <dgm:spPr/>
      <dgm:t>
        <a:bodyPr/>
        <a:lstStyle/>
        <a:p>
          <a:endParaRPr lang="en-US"/>
        </a:p>
      </dgm:t>
    </dgm:pt>
    <dgm:pt modelId="{DCA06D74-F00B-D04B-A3AD-35DE403AC43F}" type="sibTrans" cxnId="{CAD08E32-07A4-2D40-9EF3-7A0FD2A91599}">
      <dgm:prSet/>
      <dgm:spPr/>
      <dgm:t>
        <a:bodyPr/>
        <a:lstStyle/>
        <a:p>
          <a:endParaRPr lang="en-US"/>
        </a:p>
      </dgm:t>
    </dgm:pt>
    <dgm:pt modelId="{8C9B02E1-5A60-E649-9A99-755F9977D4DB}">
      <dgm:prSet phldrT="[Text]" custT="1"/>
      <dgm:spPr/>
      <dgm:t>
        <a:bodyPr/>
        <a:lstStyle/>
        <a:p>
          <a:r>
            <a:rPr lang="en-US" sz="1400"/>
            <a:t>Dependence on industrial and utility sector</a:t>
          </a:r>
        </a:p>
      </dgm:t>
    </dgm:pt>
    <dgm:pt modelId="{99725E67-CE63-9D41-AC2F-765CD90C7A15}" type="parTrans" cxnId="{25037412-7508-9141-8C64-706A261AA498}">
      <dgm:prSet/>
      <dgm:spPr/>
      <dgm:t>
        <a:bodyPr/>
        <a:lstStyle/>
        <a:p>
          <a:endParaRPr lang="en-US"/>
        </a:p>
      </dgm:t>
    </dgm:pt>
    <dgm:pt modelId="{1075B417-BC10-A04D-832F-37280453A83E}" type="sibTrans" cxnId="{25037412-7508-9141-8C64-706A261AA498}">
      <dgm:prSet/>
      <dgm:spPr/>
      <dgm:t>
        <a:bodyPr/>
        <a:lstStyle/>
        <a:p>
          <a:endParaRPr lang="en-US"/>
        </a:p>
      </dgm:t>
    </dgm:pt>
    <dgm:pt modelId="{873C4555-6D4C-E54B-A196-80332FF0CC37}">
      <dgm:prSet phldrT="[Text]" custT="1"/>
      <dgm:spPr/>
      <dgm:t>
        <a:bodyPr/>
        <a:lstStyle/>
        <a:p>
          <a:r>
            <a:rPr lang="en-US" sz="1400"/>
            <a:t>Raw Material Price Volatility</a:t>
          </a:r>
        </a:p>
      </dgm:t>
    </dgm:pt>
    <dgm:pt modelId="{12763D85-E657-A847-AAA9-D40E8399F8D0}" type="parTrans" cxnId="{DC9E666D-C034-3046-BE05-A954AA3DA31E}">
      <dgm:prSet/>
      <dgm:spPr/>
      <dgm:t>
        <a:bodyPr/>
        <a:lstStyle/>
        <a:p>
          <a:endParaRPr lang="en-US"/>
        </a:p>
      </dgm:t>
    </dgm:pt>
    <dgm:pt modelId="{8CF7A85C-1A6F-3F45-9D41-CF85C27B98AE}" type="sibTrans" cxnId="{DC9E666D-C034-3046-BE05-A954AA3DA31E}">
      <dgm:prSet/>
      <dgm:spPr/>
      <dgm:t>
        <a:bodyPr/>
        <a:lstStyle/>
        <a:p>
          <a:endParaRPr lang="en-US"/>
        </a:p>
      </dgm:t>
    </dgm:pt>
    <dgm:pt modelId="{50626950-3862-AF45-9B00-371D66CA3031}">
      <dgm:prSet custT="1"/>
      <dgm:spPr/>
      <dgm:t>
        <a:bodyPr/>
        <a:lstStyle/>
        <a:p>
          <a:r>
            <a:rPr lang="en-US" sz="1200"/>
            <a:t>Tap into growing markets (ex. EV charging infrastructure and smart grid technology)</a:t>
          </a:r>
        </a:p>
      </dgm:t>
    </dgm:pt>
    <dgm:pt modelId="{F90E0FF9-61B2-694F-B084-F52B0AB177B4}" type="parTrans" cxnId="{5D9D7491-F44D-C045-929C-3FAD131304D1}">
      <dgm:prSet/>
      <dgm:spPr/>
      <dgm:t>
        <a:bodyPr/>
        <a:lstStyle/>
        <a:p>
          <a:endParaRPr lang="en-US"/>
        </a:p>
      </dgm:t>
    </dgm:pt>
    <dgm:pt modelId="{2A418706-D3BF-554E-B3ED-88F8C7AF9363}" type="sibTrans" cxnId="{5D9D7491-F44D-C045-929C-3FAD131304D1}">
      <dgm:prSet/>
      <dgm:spPr/>
      <dgm:t>
        <a:bodyPr/>
        <a:lstStyle/>
        <a:p>
          <a:endParaRPr lang="en-US"/>
        </a:p>
      </dgm:t>
    </dgm:pt>
    <dgm:pt modelId="{307EAC13-6C61-C540-BAFD-371163993780}" type="pres">
      <dgm:prSet presAssocID="{FF9648A1-9C26-7349-A68B-565564CB2397}" presName="cycleMatrixDiagram" presStyleCnt="0">
        <dgm:presLayoutVars>
          <dgm:chMax val="1"/>
          <dgm:dir/>
          <dgm:animLvl val="lvl"/>
          <dgm:resizeHandles val="exact"/>
        </dgm:presLayoutVars>
      </dgm:prSet>
      <dgm:spPr/>
    </dgm:pt>
    <dgm:pt modelId="{57FCA2EB-9898-6949-8829-7FB45D40AE2B}" type="pres">
      <dgm:prSet presAssocID="{FF9648A1-9C26-7349-A68B-565564CB2397}" presName="children" presStyleCnt="0"/>
      <dgm:spPr/>
    </dgm:pt>
    <dgm:pt modelId="{7512B318-C100-D04F-A2B3-1342A1119FC6}" type="pres">
      <dgm:prSet presAssocID="{FF9648A1-9C26-7349-A68B-565564CB2397}" presName="child1group" presStyleCnt="0"/>
      <dgm:spPr/>
    </dgm:pt>
    <dgm:pt modelId="{02CA5DAC-2F01-4647-8EE0-0C8DA46B263E}" type="pres">
      <dgm:prSet presAssocID="{FF9648A1-9C26-7349-A68B-565564CB2397}" presName="child1" presStyleLbl="bgAcc1" presStyleIdx="0" presStyleCnt="4" custLinFactNeighborX="-13820" custLinFactNeighborY="2133"/>
      <dgm:spPr/>
    </dgm:pt>
    <dgm:pt modelId="{66761837-E449-744E-B4AF-211356FAED75}" type="pres">
      <dgm:prSet presAssocID="{FF9648A1-9C26-7349-A68B-565564CB2397}" presName="child1Text" presStyleLbl="bgAcc1" presStyleIdx="0" presStyleCnt="4">
        <dgm:presLayoutVars>
          <dgm:bulletEnabled val="1"/>
        </dgm:presLayoutVars>
      </dgm:prSet>
      <dgm:spPr/>
    </dgm:pt>
    <dgm:pt modelId="{32540C71-98FF-534F-B2E3-63B0C8EA45F6}" type="pres">
      <dgm:prSet presAssocID="{FF9648A1-9C26-7349-A68B-565564CB2397}" presName="child2group" presStyleCnt="0"/>
      <dgm:spPr/>
    </dgm:pt>
    <dgm:pt modelId="{62BD9534-D9A5-F545-BAC2-52990573BE11}" type="pres">
      <dgm:prSet presAssocID="{FF9648A1-9C26-7349-A68B-565564CB2397}" presName="child2" presStyleLbl="bgAcc1" presStyleIdx="1" presStyleCnt="4" custLinFactNeighborX="22568" custLinFactNeighborY="2133"/>
      <dgm:spPr/>
    </dgm:pt>
    <dgm:pt modelId="{AAB141BB-DDD3-C44C-A6E1-95952E7797F7}" type="pres">
      <dgm:prSet presAssocID="{FF9648A1-9C26-7349-A68B-565564CB2397}" presName="child2Text" presStyleLbl="bgAcc1" presStyleIdx="1" presStyleCnt="4">
        <dgm:presLayoutVars>
          <dgm:bulletEnabled val="1"/>
        </dgm:presLayoutVars>
      </dgm:prSet>
      <dgm:spPr/>
    </dgm:pt>
    <dgm:pt modelId="{5D13EE23-9562-094E-A284-1F8CAC4E0F54}" type="pres">
      <dgm:prSet presAssocID="{FF9648A1-9C26-7349-A68B-565564CB2397}" presName="child3group" presStyleCnt="0"/>
      <dgm:spPr/>
    </dgm:pt>
    <dgm:pt modelId="{80F2C54B-71EA-5343-BB3E-0BC9DDF06EF9}" type="pres">
      <dgm:prSet presAssocID="{FF9648A1-9C26-7349-A68B-565564CB2397}" presName="child3" presStyleLbl="bgAcc1" presStyleIdx="2" presStyleCnt="4" custLinFactNeighborX="17041" custLinFactNeighborY="-17273"/>
      <dgm:spPr/>
    </dgm:pt>
    <dgm:pt modelId="{FC482C59-A064-1342-9AE6-0CDA30CA45A3}" type="pres">
      <dgm:prSet presAssocID="{FF9648A1-9C26-7349-A68B-565564CB2397}" presName="child3Text" presStyleLbl="bgAcc1" presStyleIdx="2" presStyleCnt="4">
        <dgm:presLayoutVars>
          <dgm:bulletEnabled val="1"/>
        </dgm:presLayoutVars>
      </dgm:prSet>
      <dgm:spPr/>
    </dgm:pt>
    <dgm:pt modelId="{AB9926E0-DA2C-C844-BC02-BFC46AD23246}" type="pres">
      <dgm:prSet presAssocID="{FF9648A1-9C26-7349-A68B-565564CB2397}" presName="child4group" presStyleCnt="0"/>
      <dgm:spPr/>
    </dgm:pt>
    <dgm:pt modelId="{E4D8E649-803C-D740-812D-103385ADCF93}" type="pres">
      <dgm:prSet presAssocID="{FF9648A1-9C26-7349-A68B-565564CB2397}" presName="child4" presStyleLbl="bgAcc1" presStyleIdx="3" presStyleCnt="4" custLinFactNeighborX="-13357" custLinFactNeighborY="-17273"/>
      <dgm:spPr/>
    </dgm:pt>
    <dgm:pt modelId="{09FF5A21-6407-D640-AB4E-EFE34CF960BB}" type="pres">
      <dgm:prSet presAssocID="{FF9648A1-9C26-7349-A68B-565564CB2397}" presName="child4Text" presStyleLbl="bgAcc1" presStyleIdx="3" presStyleCnt="4">
        <dgm:presLayoutVars>
          <dgm:bulletEnabled val="1"/>
        </dgm:presLayoutVars>
      </dgm:prSet>
      <dgm:spPr/>
    </dgm:pt>
    <dgm:pt modelId="{F0FCBB33-8C96-DA41-B781-C1B5012406A7}" type="pres">
      <dgm:prSet presAssocID="{FF9648A1-9C26-7349-A68B-565564CB2397}" presName="childPlaceholder" presStyleCnt="0"/>
      <dgm:spPr/>
    </dgm:pt>
    <dgm:pt modelId="{2E56285E-1007-4C48-B407-3035054AA953}" type="pres">
      <dgm:prSet presAssocID="{FF9648A1-9C26-7349-A68B-565564CB2397}" presName="circle" presStyleCnt="0"/>
      <dgm:spPr/>
    </dgm:pt>
    <dgm:pt modelId="{84565853-7CA8-7146-9901-8A67EFAD587E}" type="pres">
      <dgm:prSet presAssocID="{FF9648A1-9C26-7349-A68B-565564CB2397}" presName="quadrant1" presStyleLbl="node1" presStyleIdx="0" presStyleCnt="4">
        <dgm:presLayoutVars>
          <dgm:chMax val="1"/>
          <dgm:bulletEnabled val="1"/>
        </dgm:presLayoutVars>
      </dgm:prSet>
      <dgm:spPr/>
    </dgm:pt>
    <dgm:pt modelId="{65E93221-385B-EC45-9CDF-9A2B56AF62EA}" type="pres">
      <dgm:prSet presAssocID="{FF9648A1-9C26-7349-A68B-565564CB2397}" presName="quadrant2" presStyleLbl="node1" presStyleIdx="1" presStyleCnt="4">
        <dgm:presLayoutVars>
          <dgm:chMax val="1"/>
          <dgm:bulletEnabled val="1"/>
        </dgm:presLayoutVars>
      </dgm:prSet>
      <dgm:spPr/>
    </dgm:pt>
    <dgm:pt modelId="{228055B2-D88A-404E-9177-FAA03EC2211C}" type="pres">
      <dgm:prSet presAssocID="{FF9648A1-9C26-7349-A68B-565564CB2397}" presName="quadrant3" presStyleLbl="node1" presStyleIdx="2" presStyleCnt="4">
        <dgm:presLayoutVars>
          <dgm:chMax val="1"/>
          <dgm:bulletEnabled val="1"/>
        </dgm:presLayoutVars>
      </dgm:prSet>
      <dgm:spPr/>
    </dgm:pt>
    <dgm:pt modelId="{8345D95F-4797-3146-83EF-DBF68480FE12}" type="pres">
      <dgm:prSet presAssocID="{FF9648A1-9C26-7349-A68B-565564CB2397}" presName="quadrant4" presStyleLbl="node1" presStyleIdx="3" presStyleCnt="4" custLinFactNeighborX="-525" custLinFactNeighborY="399">
        <dgm:presLayoutVars>
          <dgm:chMax val="1"/>
          <dgm:bulletEnabled val="1"/>
        </dgm:presLayoutVars>
      </dgm:prSet>
      <dgm:spPr/>
    </dgm:pt>
    <dgm:pt modelId="{3F3501E8-6B6D-0341-B2B4-6201EB9DE68D}" type="pres">
      <dgm:prSet presAssocID="{FF9648A1-9C26-7349-A68B-565564CB2397}" presName="quadrantPlaceholder" presStyleCnt="0"/>
      <dgm:spPr/>
    </dgm:pt>
    <dgm:pt modelId="{8088A1F8-6E0F-5D44-ABC8-7D9713E7EFF7}" type="pres">
      <dgm:prSet presAssocID="{FF9648A1-9C26-7349-A68B-565564CB2397}" presName="center1" presStyleLbl="fgShp" presStyleIdx="0" presStyleCnt="2" custLinFactNeighborX="13698" custLinFactNeighborY="5811"/>
      <dgm:spPr>
        <a:prstGeom prst="arc">
          <a:avLst/>
        </a:prstGeom>
        <a:solidFill>
          <a:schemeClr val="accent6"/>
        </a:solidFill>
        <a:ln>
          <a:noFill/>
        </a:ln>
      </dgm:spPr>
    </dgm:pt>
    <dgm:pt modelId="{FA26AD7A-CC9B-B44C-83BF-2528080E331B}" type="pres">
      <dgm:prSet presAssocID="{FF9648A1-9C26-7349-A68B-565564CB2397}" presName="center2" presStyleLbl="fgShp" presStyleIdx="1" presStyleCnt="2" custScaleY="134702" custLinFactNeighborX="-16917" custLinFactNeighborY="-1779"/>
      <dgm:spPr>
        <a:prstGeom prst="arc">
          <a:avLst/>
        </a:prstGeom>
        <a:solidFill>
          <a:schemeClr val="accent6"/>
        </a:solidFill>
        <a:ln>
          <a:noFill/>
        </a:ln>
      </dgm:spPr>
    </dgm:pt>
  </dgm:ptLst>
  <dgm:cxnLst>
    <dgm:cxn modelId="{E23BBD04-E04C-7840-8BC7-871768FE0FCE}" type="presOf" srcId="{EFB33BA3-DC61-064B-BFE3-3609725FC961}" destId="{02CA5DAC-2F01-4647-8EE0-0C8DA46B263E}" srcOrd="0" destOrd="0" presId="urn:microsoft.com/office/officeart/2005/8/layout/cycle4"/>
    <dgm:cxn modelId="{8571A20E-2CF8-8646-8789-65185C9449DC}" type="presOf" srcId="{50626950-3862-AF45-9B00-371D66CA3031}" destId="{E4D8E649-803C-D740-812D-103385ADCF93}" srcOrd="0" destOrd="1" presId="urn:microsoft.com/office/officeart/2005/8/layout/cycle4"/>
    <dgm:cxn modelId="{43C0CE11-ADD4-8740-9620-322D7CC32EFC}" type="presOf" srcId="{0E2FA41F-C6A8-C24F-86D2-AD558F7B730E}" destId="{E4D8E649-803C-D740-812D-103385ADCF93}" srcOrd="0" destOrd="0" presId="urn:microsoft.com/office/officeart/2005/8/layout/cycle4"/>
    <dgm:cxn modelId="{25037412-7508-9141-8C64-706A261AA498}" srcId="{632DC558-2D4B-2941-A133-18183B8EBB8A}" destId="{8C9B02E1-5A60-E649-9A99-755F9977D4DB}" srcOrd="1" destOrd="0" parTransId="{99725E67-CE63-9D41-AC2F-765CD90C7A15}" sibTransId="{1075B417-BC10-A04D-832F-37280453A83E}"/>
    <dgm:cxn modelId="{44E31425-F473-454C-8B08-7427B27627D8}" type="presOf" srcId="{3D16B4D5-7489-F74E-9D20-A61C9977094F}" destId="{66761837-E449-744E-B4AF-211356FAED75}" srcOrd="1" destOrd="2" presId="urn:microsoft.com/office/officeart/2005/8/layout/cycle4"/>
    <dgm:cxn modelId="{FDDB8926-34AC-A546-8FA9-F187E3BC2EE7}" srcId="{FF9648A1-9C26-7349-A68B-565564CB2397}" destId="{97F932AA-84BA-7442-980A-9F163DF1C003}" srcOrd="2" destOrd="0" parTransId="{E78C066E-19D9-CD42-9DBA-DEA918E5B5C5}" sibTransId="{4727A6F1-D03D-2946-933C-4A87B9CF12AB}"/>
    <dgm:cxn modelId="{351C0E30-549D-5D42-8FE2-B1DD43B5113E}" type="presOf" srcId="{8C9B02E1-5A60-E649-9A99-755F9977D4DB}" destId="{AAB141BB-DDD3-C44C-A6E1-95952E7797F7}" srcOrd="1" destOrd="1" presId="urn:microsoft.com/office/officeart/2005/8/layout/cycle4"/>
    <dgm:cxn modelId="{CAD08E32-07A4-2D40-9EF3-7A0FD2A91599}" srcId="{632DC558-2D4B-2941-A133-18183B8EBB8A}" destId="{CBBCE72F-DDE6-064B-AE76-1AF2F614F762}" srcOrd="2" destOrd="0" parTransId="{F73B8ED9-CA85-5444-9ED5-D107A52A8124}" sibTransId="{DCA06D74-F00B-D04B-A3AD-35DE403AC43F}"/>
    <dgm:cxn modelId="{4F1A9432-BEF3-AE4C-9F10-98060451D11C}" type="presOf" srcId="{873C4555-6D4C-E54B-A196-80332FF0CC37}" destId="{80F2C54B-71EA-5343-BB3E-0BC9DDF06EF9}" srcOrd="0" destOrd="1" presId="urn:microsoft.com/office/officeart/2005/8/layout/cycle4"/>
    <dgm:cxn modelId="{81B8B735-457A-9642-98EC-88171EB2FDA8}" type="presOf" srcId="{51BB2F04-C952-0D4D-96F7-A482DA59B721}" destId="{AAB141BB-DDD3-C44C-A6E1-95952E7797F7}" srcOrd="1" destOrd="0" presId="urn:microsoft.com/office/officeart/2005/8/layout/cycle4"/>
    <dgm:cxn modelId="{961E1736-C493-E14C-A74C-C6DABE7C1260}" type="presOf" srcId="{50626950-3862-AF45-9B00-371D66CA3031}" destId="{09FF5A21-6407-D640-AB4E-EFE34CF960BB}" srcOrd="1" destOrd="1" presId="urn:microsoft.com/office/officeart/2005/8/layout/cycle4"/>
    <dgm:cxn modelId="{FAC5BA37-3651-ED4E-B47D-08419728B78C}" type="presOf" srcId="{37741F84-D171-DD4C-BA72-FFD60502A498}" destId="{02CA5DAC-2F01-4647-8EE0-0C8DA46B263E}" srcOrd="0" destOrd="1" presId="urn:microsoft.com/office/officeart/2005/8/layout/cycle4"/>
    <dgm:cxn modelId="{2D92333D-E140-9744-9F25-DB15BE7ECC69}" type="presOf" srcId="{51BB2F04-C952-0D4D-96F7-A482DA59B721}" destId="{62BD9534-D9A5-F545-BAC2-52990573BE11}" srcOrd="0" destOrd="0" presId="urn:microsoft.com/office/officeart/2005/8/layout/cycle4"/>
    <dgm:cxn modelId="{D128B140-159D-0043-82E8-DFB739E440C3}" srcId="{EA2D914B-CCF5-7E48-85F8-EACF9F67D4AD}" destId="{37741F84-D171-DD4C-BA72-FFD60502A498}" srcOrd="1" destOrd="0" parTransId="{ABF21B4D-8EA3-8C4F-A1BC-BC4E623B9726}" sibTransId="{64C18E02-C62F-DE4A-BE29-BD78DAA6EA7C}"/>
    <dgm:cxn modelId="{4180DD42-9FE1-CE47-B5FC-2E25D69DC3CF}" type="presOf" srcId="{CBBCE72F-DDE6-064B-AE76-1AF2F614F762}" destId="{AAB141BB-DDD3-C44C-A6E1-95952E7797F7}" srcOrd="1" destOrd="2" presId="urn:microsoft.com/office/officeart/2005/8/layout/cycle4"/>
    <dgm:cxn modelId="{253E7A45-61C6-B047-BEB5-36C2194E79D1}" type="presOf" srcId="{873C4555-6D4C-E54B-A196-80332FF0CC37}" destId="{FC482C59-A064-1342-9AE6-0CDA30CA45A3}" srcOrd="1" destOrd="1" presId="urn:microsoft.com/office/officeart/2005/8/layout/cycle4"/>
    <dgm:cxn modelId="{FBB40249-2ABC-2A49-83D6-54330D0C7CE6}" type="presOf" srcId="{CBBCE72F-DDE6-064B-AE76-1AF2F614F762}" destId="{62BD9534-D9A5-F545-BAC2-52990573BE11}" srcOrd="0" destOrd="2" presId="urn:microsoft.com/office/officeart/2005/8/layout/cycle4"/>
    <dgm:cxn modelId="{0A56684C-1829-9C47-AD5C-F4816FD1021C}" type="presOf" srcId="{FF9648A1-9C26-7349-A68B-565564CB2397}" destId="{307EAC13-6C61-C540-BAFD-371163993780}" srcOrd="0" destOrd="0" presId="urn:microsoft.com/office/officeart/2005/8/layout/cycle4"/>
    <dgm:cxn modelId="{47F19255-A136-2543-BF03-DDBCBA4D9A52}" srcId="{97F932AA-84BA-7442-980A-9F163DF1C003}" destId="{5AED7ECE-3531-DA45-86B1-A54411860BA9}" srcOrd="0" destOrd="0" parTransId="{51732CB9-0FF5-814F-A8AC-87CE7D3E8963}" sibTransId="{EBBDE4CC-D38F-F74D-8553-D0A7412417AE}"/>
    <dgm:cxn modelId="{125E1465-DB8B-C947-8518-BA6406381DA3}" srcId="{632DC558-2D4B-2941-A133-18183B8EBB8A}" destId="{51BB2F04-C952-0D4D-96F7-A482DA59B721}" srcOrd="0" destOrd="0" parTransId="{A03E15D3-40CF-1A43-838A-B7EBDED9E05F}" sibTransId="{94E33AE1-FFBD-8F44-B3BD-5384F889C228}"/>
    <dgm:cxn modelId="{83703F66-865C-3F4A-B424-BBB5171DD4CD}" type="presOf" srcId="{EFB33BA3-DC61-064B-BFE3-3609725FC961}" destId="{66761837-E449-744E-B4AF-211356FAED75}" srcOrd="1" destOrd="0" presId="urn:microsoft.com/office/officeart/2005/8/layout/cycle4"/>
    <dgm:cxn modelId="{DC9E666D-C034-3046-BE05-A954AA3DA31E}" srcId="{97F932AA-84BA-7442-980A-9F163DF1C003}" destId="{873C4555-6D4C-E54B-A196-80332FF0CC37}" srcOrd="1" destOrd="0" parTransId="{12763D85-E657-A847-AAA9-D40E8399F8D0}" sibTransId="{8CF7A85C-1A6F-3F45-9D41-CF85C27B98AE}"/>
    <dgm:cxn modelId="{A60A9584-C546-D043-B01F-EA4F3938A9DC}" type="presOf" srcId="{97F932AA-84BA-7442-980A-9F163DF1C003}" destId="{228055B2-D88A-404E-9177-FAA03EC2211C}" srcOrd="0" destOrd="0" presId="urn:microsoft.com/office/officeart/2005/8/layout/cycle4"/>
    <dgm:cxn modelId="{28BF2987-93B3-A44E-B12D-28BA9D0A7FFE}" type="presOf" srcId="{632DC558-2D4B-2941-A133-18183B8EBB8A}" destId="{65E93221-385B-EC45-9CDF-9A2B56AF62EA}" srcOrd="0" destOrd="0" presId="urn:microsoft.com/office/officeart/2005/8/layout/cycle4"/>
    <dgm:cxn modelId="{5D9D7491-F44D-C045-929C-3FAD131304D1}" srcId="{B8919DDE-7C14-EB43-8DE1-FE98FAFC5F6A}" destId="{50626950-3862-AF45-9B00-371D66CA3031}" srcOrd="1" destOrd="0" parTransId="{F90E0FF9-61B2-694F-B084-F52B0AB177B4}" sibTransId="{2A418706-D3BF-554E-B3ED-88F8C7AF9363}"/>
    <dgm:cxn modelId="{84615397-1550-BB4B-B23F-D2F373136677}" type="presOf" srcId="{5AED7ECE-3531-DA45-86B1-A54411860BA9}" destId="{80F2C54B-71EA-5343-BB3E-0BC9DDF06EF9}" srcOrd="0" destOrd="0" presId="urn:microsoft.com/office/officeart/2005/8/layout/cycle4"/>
    <dgm:cxn modelId="{C6AAF59A-7F07-DB45-A329-81747B780986}" srcId="{FF9648A1-9C26-7349-A68B-565564CB2397}" destId="{EA2D914B-CCF5-7E48-85F8-EACF9F67D4AD}" srcOrd="0" destOrd="0" parTransId="{42602508-5889-154C-858E-35E89311FEC4}" sibTransId="{9AF80127-25C9-7E4B-99DF-559CA1330BC9}"/>
    <dgm:cxn modelId="{27FDCA9E-13B1-0748-9914-0CCCECBCC348}" srcId="{B8919DDE-7C14-EB43-8DE1-FE98FAFC5F6A}" destId="{0E2FA41F-C6A8-C24F-86D2-AD558F7B730E}" srcOrd="0" destOrd="0" parTransId="{46936B57-3E0C-3B43-83AE-24A7D1B80B91}" sibTransId="{A3233D89-5F72-DA44-A5D7-C880CB8D060D}"/>
    <dgm:cxn modelId="{85FB7F9F-5808-4149-80C2-43A144498C2D}" srcId="{EA2D914B-CCF5-7E48-85F8-EACF9F67D4AD}" destId="{3D16B4D5-7489-F74E-9D20-A61C9977094F}" srcOrd="2" destOrd="0" parTransId="{1CD3F4CD-BDFC-0340-817E-1788508EB5DC}" sibTransId="{028618C4-EEE1-3E4D-83B2-DAEEA773984A}"/>
    <dgm:cxn modelId="{7163CBB6-68E5-A64C-92B8-47253BFAE738}" srcId="{FF9648A1-9C26-7349-A68B-565564CB2397}" destId="{B8919DDE-7C14-EB43-8DE1-FE98FAFC5F6A}" srcOrd="3" destOrd="0" parTransId="{F22288BB-D755-FC40-8994-57930DA27A1B}" sibTransId="{78A76879-DF35-EB4D-9AE9-758869D23015}"/>
    <dgm:cxn modelId="{94F5BABE-3B8D-E746-B47D-6AAD87CC7F0D}" type="presOf" srcId="{37741F84-D171-DD4C-BA72-FFD60502A498}" destId="{66761837-E449-744E-B4AF-211356FAED75}" srcOrd="1" destOrd="1" presId="urn:microsoft.com/office/officeart/2005/8/layout/cycle4"/>
    <dgm:cxn modelId="{43FBA8C6-F2EA-A04F-9D90-07588D3C289B}" type="presOf" srcId="{B8919DDE-7C14-EB43-8DE1-FE98FAFC5F6A}" destId="{8345D95F-4797-3146-83EF-DBF68480FE12}" srcOrd="0" destOrd="0" presId="urn:microsoft.com/office/officeart/2005/8/layout/cycle4"/>
    <dgm:cxn modelId="{8774C8C8-4A2A-744F-ADC2-342B850FE876}" srcId="{EA2D914B-CCF5-7E48-85F8-EACF9F67D4AD}" destId="{EFB33BA3-DC61-064B-BFE3-3609725FC961}" srcOrd="0" destOrd="0" parTransId="{59F411BF-38D1-924C-AD48-852FA8C83A6C}" sibTransId="{EDC7DF84-F883-7F4A-9148-1604D4DBF8C2}"/>
    <dgm:cxn modelId="{141007CF-3198-974C-AA8E-8AD191581EF5}" type="presOf" srcId="{8C9B02E1-5A60-E649-9A99-755F9977D4DB}" destId="{62BD9534-D9A5-F545-BAC2-52990573BE11}" srcOrd="0" destOrd="1" presId="urn:microsoft.com/office/officeart/2005/8/layout/cycle4"/>
    <dgm:cxn modelId="{15F325D8-513D-1C41-B866-BA9030624AED}" type="presOf" srcId="{3D16B4D5-7489-F74E-9D20-A61C9977094F}" destId="{02CA5DAC-2F01-4647-8EE0-0C8DA46B263E}" srcOrd="0" destOrd="2" presId="urn:microsoft.com/office/officeart/2005/8/layout/cycle4"/>
    <dgm:cxn modelId="{4D1772DA-6D8C-4645-A134-64239DEEF236}" type="presOf" srcId="{0E2FA41F-C6A8-C24F-86D2-AD558F7B730E}" destId="{09FF5A21-6407-D640-AB4E-EFE34CF960BB}" srcOrd="1" destOrd="0" presId="urn:microsoft.com/office/officeart/2005/8/layout/cycle4"/>
    <dgm:cxn modelId="{EF866CDC-7A43-2C4B-808F-C3917020B68C}" type="presOf" srcId="{5AED7ECE-3531-DA45-86B1-A54411860BA9}" destId="{FC482C59-A064-1342-9AE6-0CDA30CA45A3}" srcOrd="1" destOrd="0" presId="urn:microsoft.com/office/officeart/2005/8/layout/cycle4"/>
    <dgm:cxn modelId="{BB51D0DD-180C-3849-B84B-95B4084BACAB}" srcId="{FF9648A1-9C26-7349-A68B-565564CB2397}" destId="{632DC558-2D4B-2941-A133-18183B8EBB8A}" srcOrd="1" destOrd="0" parTransId="{77A6795C-7332-D44D-8ABC-A89FC278AE00}" sibTransId="{51050A97-E1E6-2C45-90F2-BA974D08B60C}"/>
    <dgm:cxn modelId="{82BCE6E3-87B4-424E-B1BF-B45AEED74962}" type="presOf" srcId="{EA2D914B-CCF5-7E48-85F8-EACF9F67D4AD}" destId="{84565853-7CA8-7146-9901-8A67EFAD587E}" srcOrd="0" destOrd="0" presId="urn:microsoft.com/office/officeart/2005/8/layout/cycle4"/>
    <dgm:cxn modelId="{C74EBECB-468A-274C-AAD6-269653CF183D}" type="presParOf" srcId="{307EAC13-6C61-C540-BAFD-371163993780}" destId="{57FCA2EB-9898-6949-8829-7FB45D40AE2B}" srcOrd="0" destOrd="0" presId="urn:microsoft.com/office/officeart/2005/8/layout/cycle4"/>
    <dgm:cxn modelId="{85C1DCE2-4B31-0B4D-BA4F-42B1DD87D68D}" type="presParOf" srcId="{57FCA2EB-9898-6949-8829-7FB45D40AE2B}" destId="{7512B318-C100-D04F-A2B3-1342A1119FC6}" srcOrd="0" destOrd="0" presId="urn:microsoft.com/office/officeart/2005/8/layout/cycle4"/>
    <dgm:cxn modelId="{C9662486-0B85-3E43-80B9-71A7BD509E02}" type="presParOf" srcId="{7512B318-C100-D04F-A2B3-1342A1119FC6}" destId="{02CA5DAC-2F01-4647-8EE0-0C8DA46B263E}" srcOrd="0" destOrd="0" presId="urn:microsoft.com/office/officeart/2005/8/layout/cycle4"/>
    <dgm:cxn modelId="{AFE930BD-3AE9-3745-B0F4-D631ABCA6E0F}" type="presParOf" srcId="{7512B318-C100-D04F-A2B3-1342A1119FC6}" destId="{66761837-E449-744E-B4AF-211356FAED75}" srcOrd="1" destOrd="0" presId="urn:microsoft.com/office/officeart/2005/8/layout/cycle4"/>
    <dgm:cxn modelId="{C6F724E5-2226-F34D-A7CB-7315EE2EBF30}" type="presParOf" srcId="{57FCA2EB-9898-6949-8829-7FB45D40AE2B}" destId="{32540C71-98FF-534F-B2E3-63B0C8EA45F6}" srcOrd="1" destOrd="0" presId="urn:microsoft.com/office/officeart/2005/8/layout/cycle4"/>
    <dgm:cxn modelId="{0DD4E571-01E4-3C4A-977F-5CD92AF55CFB}" type="presParOf" srcId="{32540C71-98FF-534F-B2E3-63B0C8EA45F6}" destId="{62BD9534-D9A5-F545-BAC2-52990573BE11}" srcOrd="0" destOrd="0" presId="urn:microsoft.com/office/officeart/2005/8/layout/cycle4"/>
    <dgm:cxn modelId="{7D5A1FA3-25FD-E44D-82BF-21A33864FC89}" type="presParOf" srcId="{32540C71-98FF-534F-B2E3-63B0C8EA45F6}" destId="{AAB141BB-DDD3-C44C-A6E1-95952E7797F7}" srcOrd="1" destOrd="0" presId="urn:microsoft.com/office/officeart/2005/8/layout/cycle4"/>
    <dgm:cxn modelId="{2B712C6F-FAF8-DB41-9441-B4BF2DD13AA7}" type="presParOf" srcId="{57FCA2EB-9898-6949-8829-7FB45D40AE2B}" destId="{5D13EE23-9562-094E-A284-1F8CAC4E0F54}" srcOrd="2" destOrd="0" presId="urn:microsoft.com/office/officeart/2005/8/layout/cycle4"/>
    <dgm:cxn modelId="{752ED756-91EF-7245-88E8-5E2D3318A634}" type="presParOf" srcId="{5D13EE23-9562-094E-A284-1F8CAC4E0F54}" destId="{80F2C54B-71EA-5343-BB3E-0BC9DDF06EF9}" srcOrd="0" destOrd="0" presId="urn:microsoft.com/office/officeart/2005/8/layout/cycle4"/>
    <dgm:cxn modelId="{3702AA51-46B5-1E4B-9D5F-9E7CEF4EE4C6}" type="presParOf" srcId="{5D13EE23-9562-094E-A284-1F8CAC4E0F54}" destId="{FC482C59-A064-1342-9AE6-0CDA30CA45A3}" srcOrd="1" destOrd="0" presId="urn:microsoft.com/office/officeart/2005/8/layout/cycle4"/>
    <dgm:cxn modelId="{923F5189-0479-254A-8398-F463EF989E07}" type="presParOf" srcId="{57FCA2EB-9898-6949-8829-7FB45D40AE2B}" destId="{AB9926E0-DA2C-C844-BC02-BFC46AD23246}" srcOrd="3" destOrd="0" presId="urn:microsoft.com/office/officeart/2005/8/layout/cycle4"/>
    <dgm:cxn modelId="{B83231BB-A79A-134E-BA27-E915A6B498FB}" type="presParOf" srcId="{AB9926E0-DA2C-C844-BC02-BFC46AD23246}" destId="{E4D8E649-803C-D740-812D-103385ADCF93}" srcOrd="0" destOrd="0" presId="urn:microsoft.com/office/officeart/2005/8/layout/cycle4"/>
    <dgm:cxn modelId="{BBB4C0E5-A0A5-1A4D-8AB0-29789FF26B3A}" type="presParOf" srcId="{AB9926E0-DA2C-C844-BC02-BFC46AD23246}" destId="{09FF5A21-6407-D640-AB4E-EFE34CF960BB}" srcOrd="1" destOrd="0" presId="urn:microsoft.com/office/officeart/2005/8/layout/cycle4"/>
    <dgm:cxn modelId="{7F306DC3-3608-4D46-B9C9-BBCDCE7C8AAE}" type="presParOf" srcId="{57FCA2EB-9898-6949-8829-7FB45D40AE2B}" destId="{F0FCBB33-8C96-DA41-B781-C1B5012406A7}" srcOrd="4" destOrd="0" presId="urn:microsoft.com/office/officeart/2005/8/layout/cycle4"/>
    <dgm:cxn modelId="{FEBD9781-BEDB-A84A-9346-FDE20E3C0E22}" type="presParOf" srcId="{307EAC13-6C61-C540-BAFD-371163993780}" destId="{2E56285E-1007-4C48-B407-3035054AA953}" srcOrd="1" destOrd="0" presId="urn:microsoft.com/office/officeart/2005/8/layout/cycle4"/>
    <dgm:cxn modelId="{768216BB-A025-204C-95DE-D3286030A6AA}" type="presParOf" srcId="{2E56285E-1007-4C48-B407-3035054AA953}" destId="{84565853-7CA8-7146-9901-8A67EFAD587E}" srcOrd="0" destOrd="0" presId="urn:microsoft.com/office/officeart/2005/8/layout/cycle4"/>
    <dgm:cxn modelId="{D6A6EE06-8566-6143-B730-B2D08D971EBD}" type="presParOf" srcId="{2E56285E-1007-4C48-B407-3035054AA953}" destId="{65E93221-385B-EC45-9CDF-9A2B56AF62EA}" srcOrd="1" destOrd="0" presId="urn:microsoft.com/office/officeart/2005/8/layout/cycle4"/>
    <dgm:cxn modelId="{EAFD451B-4DB0-7243-B791-11C22D674F54}" type="presParOf" srcId="{2E56285E-1007-4C48-B407-3035054AA953}" destId="{228055B2-D88A-404E-9177-FAA03EC2211C}" srcOrd="2" destOrd="0" presId="urn:microsoft.com/office/officeart/2005/8/layout/cycle4"/>
    <dgm:cxn modelId="{DA339AD5-22BC-C743-810B-8D0FC23F2CB3}" type="presParOf" srcId="{2E56285E-1007-4C48-B407-3035054AA953}" destId="{8345D95F-4797-3146-83EF-DBF68480FE12}" srcOrd="3" destOrd="0" presId="urn:microsoft.com/office/officeart/2005/8/layout/cycle4"/>
    <dgm:cxn modelId="{779EB4B2-27F8-C24C-88AD-588F739EE4CA}" type="presParOf" srcId="{2E56285E-1007-4C48-B407-3035054AA953}" destId="{3F3501E8-6B6D-0341-B2B4-6201EB9DE68D}" srcOrd="4" destOrd="0" presId="urn:microsoft.com/office/officeart/2005/8/layout/cycle4"/>
    <dgm:cxn modelId="{E637E096-04BD-1040-B7C2-F99AA520DF1E}" type="presParOf" srcId="{307EAC13-6C61-C540-BAFD-371163993780}" destId="{8088A1F8-6E0F-5D44-ABC8-7D9713E7EFF7}" srcOrd="2" destOrd="0" presId="urn:microsoft.com/office/officeart/2005/8/layout/cycle4"/>
    <dgm:cxn modelId="{0A3481E9-E73A-6C48-A58D-6DB48A7DC9FE}" type="presParOf" srcId="{307EAC13-6C61-C540-BAFD-371163993780}" destId="{FA26AD7A-CC9B-B44C-83BF-2528080E331B}" srcOrd="3" destOrd="0" presId="urn:microsoft.com/office/officeart/2005/8/layout/cycle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9AFD177-143A-1846-9ABF-A1C772D701A9}" type="doc">
      <dgm:prSet loTypeId="urn:microsoft.com/office/officeart/2005/8/layout/list1" loCatId="" qsTypeId="urn:microsoft.com/office/officeart/2005/8/quickstyle/simple1#2" qsCatId="simple" csTypeId="urn:microsoft.com/office/officeart/2005/8/colors/accent6_2#2" csCatId="accent6" phldr="1"/>
      <dgm:spPr/>
      <dgm:t>
        <a:bodyPr/>
        <a:lstStyle/>
        <a:p>
          <a:endParaRPr lang="en-US"/>
        </a:p>
      </dgm:t>
    </dgm:pt>
    <dgm:pt modelId="{9B0820FD-C566-EE48-B163-A8CAAD5BFE5E}">
      <dgm:prSet phldrT="[Text]"/>
      <dgm:spPr/>
      <dgm:t>
        <a:bodyPr/>
        <a:lstStyle/>
        <a:p>
          <a:pPr algn="l">
            <a:lnSpc>
              <a:spcPct val="90000"/>
            </a:lnSpc>
          </a:pPr>
          <a:r>
            <a:rPr lang="en-US" sz="2200">
              <a:solidFill>
                <a:srgbClr val="FFFFFF"/>
              </a:solidFill>
              <a:ea typeface="+mn-ea"/>
              <a:cs typeface="+mn-cs"/>
            </a:rPr>
            <a:t>Threat of New </a:t>
          </a:r>
          <a:r>
            <a:rPr lang="en-US" sz="2200">
              <a:solidFill>
                <a:srgbClr val="FFFFFF"/>
              </a:solidFill>
              <a:latin typeface="Neue Haas Grotesk Text Pro"/>
              <a:ea typeface="+mn-ea"/>
              <a:cs typeface="+mn-cs"/>
            </a:rPr>
            <a:t>Entrants: </a:t>
          </a:r>
          <a:r>
            <a:rPr lang="en-US" sz="2200" b="1">
              <a:solidFill>
                <a:srgbClr val="FFFFFF"/>
              </a:solidFill>
              <a:latin typeface="Neue Haas Grotesk Text Pro"/>
              <a:ea typeface="+mn-ea"/>
              <a:cs typeface="+mn-cs"/>
            </a:rPr>
            <a:t>LOW</a:t>
          </a:r>
          <a:endParaRPr lang="en-US" sz="2200" b="1">
            <a:solidFill>
              <a:srgbClr val="FFFFFF"/>
            </a:solidFill>
            <a:ea typeface="+mn-ea"/>
            <a:cs typeface="+mn-cs"/>
          </a:endParaRPr>
        </a:p>
      </dgm:t>
    </dgm:pt>
    <dgm:pt modelId="{8F96C640-C5EE-9943-A6E8-D582C75FFE35}" type="parTrans" cxnId="{21EC763C-D475-BD41-8DE4-4125194CAA17}">
      <dgm:prSet/>
      <dgm:spPr/>
      <dgm:t>
        <a:bodyPr/>
        <a:lstStyle/>
        <a:p>
          <a:endParaRPr lang="en-US"/>
        </a:p>
      </dgm:t>
    </dgm:pt>
    <dgm:pt modelId="{DED83871-676A-6244-A5B2-D2119FA83EBB}" type="sibTrans" cxnId="{21EC763C-D475-BD41-8DE4-4125194CAA17}">
      <dgm:prSet/>
      <dgm:spPr/>
      <dgm:t>
        <a:bodyPr/>
        <a:lstStyle/>
        <a:p>
          <a:endParaRPr lang="en-US"/>
        </a:p>
      </dgm:t>
    </dgm:pt>
    <dgm:pt modelId="{13510F0B-67CE-3240-BE33-3B738A51734C}">
      <dgm:prSet phldrT="[Text]"/>
      <dgm:spPr/>
      <dgm:t>
        <a:bodyPr/>
        <a:lstStyle/>
        <a:p>
          <a:pPr algn="l">
            <a:lnSpc>
              <a:spcPct val="90000"/>
            </a:lnSpc>
          </a:pPr>
          <a:r>
            <a:rPr lang="en-US" sz="2200">
              <a:solidFill>
                <a:srgbClr val="FFFFFF"/>
              </a:solidFill>
              <a:ea typeface="+mn-ea"/>
              <a:cs typeface="+mn-cs"/>
            </a:rPr>
            <a:t>Bargaining Power of Suppliers: </a:t>
          </a:r>
          <a:r>
            <a:rPr lang="en-US" sz="2200" b="1">
              <a:solidFill>
                <a:srgbClr val="FFFFFF"/>
              </a:solidFill>
              <a:ea typeface="+mn-ea"/>
              <a:cs typeface="+mn-cs"/>
            </a:rPr>
            <a:t>LOW-MEDIUM</a:t>
          </a:r>
        </a:p>
      </dgm:t>
    </dgm:pt>
    <dgm:pt modelId="{999664B2-A402-FA4F-A69D-AC17A92CFD5C}" type="parTrans" cxnId="{3EAD4132-4B6D-074F-8C4F-694A467A9A17}">
      <dgm:prSet/>
      <dgm:spPr/>
      <dgm:t>
        <a:bodyPr/>
        <a:lstStyle/>
        <a:p>
          <a:endParaRPr lang="en-US"/>
        </a:p>
      </dgm:t>
    </dgm:pt>
    <dgm:pt modelId="{05953A25-4C51-F84E-9CE8-7C4DED2F6B22}" type="sibTrans" cxnId="{3EAD4132-4B6D-074F-8C4F-694A467A9A17}">
      <dgm:prSet/>
      <dgm:spPr/>
      <dgm:t>
        <a:bodyPr/>
        <a:lstStyle/>
        <a:p>
          <a:endParaRPr lang="en-US"/>
        </a:p>
      </dgm:t>
    </dgm:pt>
    <dgm:pt modelId="{64A6912E-8381-0046-A1A4-28422FD3B196}">
      <dgm:prSet phldrT="[Text]"/>
      <dgm:spPr/>
      <dgm:t>
        <a:bodyPr/>
        <a:lstStyle/>
        <a:p>
          <a:pPr algn="l">
            <a:lnSpc>
              <a:spcPct val="90000"/>
            </a:lnSpc>
          </a:pPr>
          <a:r>
            <a:rPr lang="en-US" sz="2200">
              <a:solidFill>
                <a:srgbClr val="FFFFFF"/>
              </a:solidFill>
              <a:ea typeface="+mn-ea"/>
              <a:cs typeface="+mn-cs"/>
            </a:rPr>
            <a:t>Threat of Substitute Products: </a:t>
          </a:r>
          <a:r>
            <a:rPr lang="en-US" sz="2200" b="1">
              <a:solidFill>
                <a:srgbClr val="FFFFFF"/>
              </a:solidFill>
              <a:ea typeface="+mn-ea"/>
              <a:cs typeface="+mn-cs"/>
            </a:rPr>
            <a:t>LOW-MEDIUM</a:t>
          </a:r>
        </a:p>
      </dgm:t>
    </dgm:pt>
    <dgm:pt modelId="{E929FB60-5658-A043-AD8B-185A6A008EBF}" type="parTrans" cxnId="{C4F1BB1C-07B8-CD41-9516-68191B99631A}">
      <dgm:prSet/>
      <dgm:spPr/>
      <dgm:t>
        <a:bodyPr/>
        <a:lstStyle/>
        <a:p>
          <a:endParaRPr lang="en-US"/>
        </a:p>
      </dgm:t>
    </dgm:pt>
    <dgm:pt modelId="{333D36FD-9FF9-7547-8F06-BD22CA0CFFCD}" type="sibTrans" cxnId="{C4F1BB1C-07B8-CD41-9516-68191B99631A}">
      <dgm:prSet/>
      <dgm:spPr/>
      <dgm:t>
        <a:bodyPr/>
        <a:lstStyle/>
        <a:p>
          <a:endParaRPr lang="en-US"/>
        </a:p>
      </dgm:t>
    </dgm:pt>
    <dgm:pt modelId="{FB40AE91-FE01-B54F-8C1A-199368D93ADE}">
      <dgm:prSet/>
      <dgm:spPr/>
      <dgm:t>
        <a:bodyPr/>
        <a:lstStyle/>
        <a:p>
          <a:pPr algn="l">
            <a:lnSpc>
              <a:spcPct val="90000"/>
            </a:lnSpc>
          </a:pPr>
          <a:r>
            <a:rPr lang="en-US" sz="2200">
              <a:solidFill>
                <a:srgbClr val="FFFFFF"/>
              </a:solidFill>
              <a:ea typeface="+mn-ea"/>
              <a:cs typeface="+mn-cs"/>
            </a:rPr>
            <a:t>Bargaining Power of Buyers: </a:t>
          </a:r>
          <a:r>
            <a:rPr lang="en-US" sz="2200" b="1">
              <a:solidFill>
                <a:srgbClr val="FFFFFF"/>
              </a:solidFill>
              <a:ea typeface="+mn-ea"/>
              <a:cs typeface="+mn-cs"/>
            </a:rPr>
            <a:t>MEDIUM-HIGH</a:t>
          </a:r>
        </a:p>
      </dgm:t>
    </dgm:pt>
    <dgm:pt modelId="{162875D5-7454-C54C-93D4-5AF4E0BB9074}" type="parTrans" cxnId="{0569A8A8-57A0-9348-9A8E-B3AD763DB5F7}">
      <dgm:prSet/>
      <dgm:spPr/>
      <dgm:t>
        <a:bodyPr/>
        <a:lstStyle/>
        <a:p>
          <a:endParaRPr lang="en-US"/>
        </a:p>
      </dgm:t>
    </dgm:pt>
    <dgm:pt modelId="{DF7E2EF2-46B8-D648-8CB9-5E0C4A8826F3}" type="sibTrans" cxnId="{0569A8A8-57A0-9348-9A8E-B3AD763DB5F7}">
      <dgm:prSet/>
      <dgm:spPr/>
      <dgm:t>
        <a:bodyPr/>
        <a:lstStyle/>
        <a:p>
          <a:endParaRPr lang="en-US"/>
        </a:p>
      </dgm:t>
    </dgm:pt>
    <dgm:pt modelId="{B47DFFF6-80B8-B845-93A2-6E6ADB7FB17E}">
      <dgm:prSet/>
      <dgm:spPr/>
      <dgm:t>
        <a:bodyPr/>
        <a:lstStyle/>
        <a:p>
          <a:pPr algn="l">
            <a:lnSpc>
              <a:spcPct val="90000"/>
            </a:lnSpc>
          </a:pPr>
          <a:r>
            <a:rPr lang="en-US" sz="2200">
              <a:solidFill>
                <a:srgbClr val="FFFFFF"/>
              </a:solidFill>
              <a:ea typeface="+mn-ea"/>
              <a:cs typeface="+mn-cs"/>
            </a:rPr>
            <a:t>Degree of Competitive Rivalry in the Industry:</a:t>
          </a:r>
          <a:r>
            <a:rPr lang="en-US" sz="2200" b="1">
              <a:solidFill>
                <a:srgbClr val="FFFFFF"/>
              </a:solidFill>
              <a:ea typeface="+mn-ea"/>
              <a:cs typeface="+mn-cs"/>
            </a:rPr>
            <a:t> MEDIUM-HIGH</a:t>
          </a:r>
        </a:p>
      </dgm:t>
    </dgm:pt>
    <dgm:pt modelId="{FDA11C82-BDAD-EA4F-8100-BC8D6EFA2D61}" type="parTrans" cxnId="{8F8812C7-CA3A-1249-976F-7853FA62691E}">
      <dgm:prSet/>
      <dgm:spPr/>
      <dgm:t>
        <a:bodyPr/>
        <a:lstStyle/>
        <a:p>
          <a:endParaRPr lang="en-US"/>
        </a:p>
      </dgm:t>
    </dgm:pt>
    <dgm:pt modelId="{BFCEA1FD-CF72-0940-9969-B7A000CDBB35}" type="sibTrans" cxnId="{8F8812C7-CA3A-1249-976F-7853FA62691E}">
      <dgm:prSet/>
      <dgm:spPr/>
      <dgm:t>
        <a:bodyPr/>
        <a:lstStyle/>
        <a:p>
          <a:endParaRPr lang="en-US"/>
        </a:p>
      </dgm:t>
    </dgm:pt>
    <dgm:pt modelId="{8A091D6D-0DAD-4F48-9E65-2FCAD34C4743}">
      <dgm:prSet phldr="0"/>
      <dgm:spPr/>
      <dgm:t>
        <a:bodyPr/>
        <a:lstStyle/>
        <a:p>
          <a:pPr algn="l">
            <a:lnSpc>
              <a:spcPct val="90000"/>
            </a:lnSpc>
          </a:pPr>
          <a:r>
            <a:rPr lang="en-US" sz="2200"/>
            <a:t>Powell’s decades of experience and strong supplier relationships make it hard for new players to compete</a:t>
          </a:r>
          <a:endParaRPr lang="en-US"/>
        </a:p>
      </dgm:t>
    </dgm:pt>
    <dgm:pt modelId="{163F4111-E295-4196-AB12-B35EA3ABD703}" type="parTrans" cxnId="{9CF181F3-BF33-B547-B979-3E7972A8F3DB}">
      <dgm:prSet/>
      <dgm:spPr/>
      <dgm:t>
        <a:bodyPr/>
        <a:lstStyle/>
        <a:p>
          <a:endParaRPr lang="en-US"/>
        </a:p>
      </dgm:t>
    </dgm:pt>
    <dgm:pt modelId="{EC7AC24B-BBA0-40FA-9EED-21DF35846079}" type="sibTrans" cxnId="{9CF181F3-BF33-B547-B979-3E7972A8F3DB}">
      <dgm:prSet/>
      <dgm:spPr/>
      <dgm:t>
        <a:bodyPr/>
        <a:lstStyle/>
        <a:p>
          <a:endParaRPr lang="en-US"/>
        </a:p>
      </dgm:t>
    </dgm:pt>
    <dgm:pt modelId="{540D4FF4-86B5-4D12-95AF-FA23380CAAC0}">
      <dgm:prSet phldr="0"/>
      <dgm:spPr/>
      <dgm:t>
        <a:bodyPr/>
        <a:lstStyle/>
        <a:p>
          <a:pPr algn="l" rtl="0">
            <a:lnSpc>
              <a:spcPct val="100000"/>
            </a:lnSpc>
          </a:pPr>
          <a:r>
            <a:rPr lang="en-US" sz="1800"/>
            <a:t>Starting a company like Powell requires massive upfront costs and strict safety </a:t>
          </a:r>
          <a:r>
            <a:rPr lang="en-US" sz="1800">
              <a:latin typeface="Neue Haas Grotesk Text Pro"/>
            </a:rPr>
            <a:t>regulations</a:t>
          </a:r>
          <a:endParaRPr lang="en-US" sz="1800">
            <a:latin typeface="Neue Haas Grotesk Text Pro"/>
            <a:ea typeface="+mn-ea"/>
            <a:cs typeface="+mn-cs"/>
          </a:endParaRPr>
        </a:p>
      </dgm:t>
    </dgm:pt>
    <dgm:pt modelId="{78FA5F4B-3D74-465B-8073-246516AAF551}" type="parTrans" cxnId="{F7604F86-906E-BE42-B9F9-F98A2A00DDA3}">
      <dgm:prSet/>
      <dgm:spPr/>
      <dgm:t>
        <a:bodyPr/>
        <a:lstStyle/>
        <a:p>
          <a:endParaRPr lang="en-US"/>
        </a:p>
      </dgm:t>
    </dgm:pt>
    <dgm:pt modelId="{E50B21BE-E9C3-4B6B-B886-C0BEF8875578}" type="sibTrans" cxnId="{F7604F86-906E-BE42-B9F9-F98A2A00DDA3}">
      <dgm:prSet/>
      <dgm:spPr/>
      <dgm:t>
        <a:bodyPr/>
        <a:lstStyle/>
        <a:p>
          <a:endParaRPr lang="en-US"/>
        </a:p>
      </dgm:t>
    </dgm:pt>
    <dgm:pt modelId="{08D5482B-89AA-46F8-AA86-A66FDD388B68}">
      <dgm:prSet phldr="0"/>
      <dgm:spPr/>
      <dgm:t>
        <a:bodyPr/>
        <a:lstStyle/>
        <a:p>
          <a:pPr algn="l" rtl="0">
            <a:lnSpc>
              <a:spcPct val="100000"/>
            </a:lnSpc>
          </a:pPr>
          <a:r>
            <a:rPr lang="en-US" sz="1400"/>
            <a:t>Powell buys in large quantities, which helps them negotiate better deals than smaller firms</a:t>
          </a:r>
          <a:endParaRPr lang="en-US" sz="1400">
            <a:latin typeface="Neue Haas Grotesk Text Pro"/>
            <a:ea typeface="+mn-ea"/>
            <a:cs typeface="+mn-cs"/>
          </a:endParaRPr>
        </a:p>
      </dgm:t>
    </dgm:pt>
    <dgm:pt modelId="{DB1A664E-5D7C-4A32-9723-F4B4844600C4}" type="parTrans" cxnId="{8480271E-7656-F44D-827C-82A36BBD28C8}">
      <dgm:prSet/>
      <dgm:spPr/>
      <dgm:t>
        <a:bodyPr/>
        <a:lstStyle/>
        <a:p>
          <a:endParaRPr lang="en-US"/>
        </a:p>
      </dgm:t>
    </dgm:pt>
    <dgm:pt modelId="{0B40F299-0444-491C-9D1F-10CD275FC7E1}" type="sibTrans" cxnId="{8480271E-7656-F44D-827C-82A36BBD28C8}">
      <dgm:prSet/>
      <dgm:spPr/>
      <dgm:t>
        <a:bodyPr/>
        <a:lstStyle/>
        <a:p>
          <a:endParaRPr lang="en-US"/>
        </a:p>
      </dgm:t>
    </dgm:pt>
    <dgm:pt modelId="{AF5740BF-DBB6-456F-B8F1-BEEFECAFA298}">
      <dgm:prSet phldr="0"/>
      <dgm:spPr/>
      <dgm:t>
        <a:bodyPr/>
        <a:lstStyle/>
        <a:p>
          <a:pPr algn="l">
            <a:lnSpc>
              <a:spcPct val="90000"/>
            </a:lnSpc>
          </a:pPr>
          <a:r>
            <a:rPr lang="en-US" sz="1800"/>
            <a:t>Only a few custom components give certain suppliers extra leverage, but not enough to control Powell</a:t>
          </a:r>
          <a:endParaRPr lang="en-US"/>
        </a:p>
      </dgm:t>
    </dgm:pt>
    <dgm:pt modelId="{C2795B05-5575-41D8-80F1-D5C7C79C8EFA}" type="parTrans" cxnId="{00BE0169-EE36-8348-8F53-3120A49B8302}">
      <dgm:prSet/>
      <dgm:spPr/>
      <dgm:t>
        <a:bodyPr/>
        <a:lstStyle/>
        <a:p>
          <a:endParaRPr lang="en-US"/>
        </a:p>
      </dgm:t>
    </dgm:pt>
    <dgm:pt modelId="{7375A92D-588D-4C4F-AB7E-5ABA39F39C85}" type="sibTrans" cxnId="{00BE0169-EE36-8348-8F53-3120A49B8302}">
      <dgm:prSet/>
      <dgm:spPr/>
      <dgm:t>
        <a:bodyPr/>
        <a:lstStyle/>
        <a:p>
          <a:endParaRPr lang="en-US"/>
        </a:p>
      </dgm:t>
    </dgm:pt>
    <dgm:pt modelId="{EB6FDAC1-D1A1-4321-ABC9-7E8C3FD18A5A}">
      <dgm:prSet phldr="0"/>
      <dgm:spPr/>
      <dgm:t>
        <a:bodyPr/>
        <a:lstStyle/>
        <a:p>
          <a:pPr algn="l" rtl="0">
            <a:lnSpc>
              <a:spcPct val="100000"/>
            </a:lnSpc>
          </a:pPr>
          <a:r>
            <a:rPr lang="en-US" sz="1400"/>
            <a:t>Big industrial clients can push for lower prices because they buy in bulk</a:t>
          </a:r>
          <a:endParaRPr lang="en-US" sz="1400">
            <a:latin typeface="Neue Haas Grotesk Text Pro"/>
            <a:ea typeface="+mn-ea"/>
            <a:cs typeface="+mn-cs"/>
          </a:endParaRPr>
        </a:p>
      </dgm:t>
    </dgm:pt>
    <dgm:pt modelId="{C1E72E1F-DFB1-42E7-957A-A2F5FB559046}" type="parTrans" cxnId="{A6DDB843-4E36-9249-B9A8-12DB376BC6B5}">
      <dgm:prSet/>
      <dgm:spPr/>
      <dgm:t>
        <a:bodyPr/>
        <a:lstStyle/>
        <a:p>
          <a:endParaRPr lang="en-US"/>
        </a:p>
      </dgm:t>
    </dgm:pt>
    <dgm:pt modelId="{B3288214-8041-41DA-B700-D765E81BDC1D}" type="sibTrans" cxnId="{A6DDB843-4E36-9249-B9A8-12DB376BC6B5}">
      <dgm:prSet/>
      <dgm:spPr/>
      <dgm:t>
        <a:bodyPr/>
        <a:lstStyle/>
        <a:p>
          <a:endParaRPr lang="en-US"/>
        </a:p>
      </dgm:t>
    </dgm:pt>
    <dgm:pt modelId="{FA53CC57-724D-435E-8FAC-FA574235EF73}">
      <dgm:prSet phldr="0"/>
      <dgm:spPr/>
      <dgm:t>
        <a:bodyPr/>
        <a:lstStyle/>
        <a:p>
          <a:pPr algn="l">
            <a:lnSpc>
              <a:spcPct val="90000"/>
            </a:lnSpc>
          </a:pPr>
          <a:r>
            <a:rPr lang="en-US" sz="1800"/>
            <a:t>Powell’s custom systems are hard to replace, which keeps buyers from switching easily</a:t>
          </a:r>
          <a:endParaRPr lang="en-US"/>
        </a:p>
      </dgm:t>
    </dgm:pt>
    <dgm:pt modelId="{4484A4C3-DD34-49B8-A423-58B201049E96}" type="parTrans" cxnId="{DEF14946-5A17-F44B-9CE9-13CA53837D63}">
      <dgm:prSet/>
      <dgm:spPr/>
      <dgm:t>
        <a:bodyPr/>
        <a:lstStyle/>
        <a:p>
          <a:endParaRPr lang="en-US"/>
        </a:p>
      </dgm:t>
    </dgm:pt>
    <dgm:pt modelId="{C5496CE8-9A19-42A1-A725-1C3EB8CE1561}" type="sibTrans" cxnId="{DEF14946-5A17-F44B-9CE9-13CA53837D63}">
      <dgm:prSet/>
      <dgm:spPr/>
      <dgm:t>
        <a:bodyPr/>
        <a:lstStyle/>
        <a:p>
          <a:endParaRPr lang="en-US"/>
        </a:p>
      </dgm:t>
    </dgm:pt>
    <dgm:pt modelId="{FB52BFAF-5D2A-42B5-B438-60B7AE08D4A8}">
      <dgm:prSet phldr="0"/>
      <dgm:spPr/>
      <dgm:t>
        <a:bodyPr/>
        <a:lstStyle/>
        <a:p>
          <a:pPr algn="l" rtl="0">
            <a:lnSpc>
              <a:spcPct val="100000"/>
            </a:lnSpc>
          </a:pPr>
          <a:r>
            <a:rPr lang="en-US" sz="1400"/>
            <a:t>Powell doesn’t face many substitutes because their products are highly specialized</a:t>
          </a:r>
          <a:endParaRPr lang="en-US" sz="1400">
            <a:latin typeface="Neue Haas Grotesk Text Pro"/>
            <a:ea typeface="+mn-ea"/>
            <a:cs typeface="+mn-cs"/>
          </a:endParaRPr>
        </a:p>
      </dgm:t>
    </dgm:pt>
    <dgm:pt modelId="{79E809EB-FBAC-4F71-8AFB-71B6A64C072C}" type="parTrans" cxnId="{D70B4585-FFE9-3D43-8390-89357D8A9735}">
      <dgm:prSet/>
      <dgm:spPr/>
      <dgm:t>
        <a:bodyPr/>
        <a:lstStyle/>
        <a:p>
          <a:endParaRPr lang="en-US"/>
        </a:p>
      </dgm:t>
    </dgm:pt>
    <dgm:pt modelId="{D3F13F36-4F5A-4CBE-B8A6-7095CD40C178}" type="sibTrans" cxnId="{D70B4585-FFE9-3D43-8390-89357D8A9735}">
      <dgm:prSet/>
      <dgm:spPr/>
      <dgm:t>
        <a:bodyPr/>
        <a:lstStyle/>
        <a:p>
          <a:endParaRPr lang="en-US"/>
        </a:p>
      </dgm:t>
    </dgm:pt>
    <dgm:pt modelId="{66828131-75CE-42B5-AE94-51B5BAF520C8}">
      <dgm:prSet phldr="0"/>
      <dgm:spPr/>
      <dgm:t>
        <a:bodyPr/>
        <a:lstStyle/>
        <a:p>
          <a:pPr algn="l">
            <a:lnSpc>
              <a:spcPct val="90000"/>
            </a:lnSpc>
          </a:pPr>
          <a:r>
            <a:rPr lang="en-US" sz="1800"/>
            <a:t>Future software-based control systems could become a threat as technology keeps growing</a:t>
          </a:r>
          <a:endParaRPr lang="en-US"/>
        </a:p>
      </dgm:t>
    </dgm:pt>
    <dgm:pt modelId="{02A2649D-8769-4B6D-9C48-E30840399104}" type="parTrans" cxnId="{4B0C5A16-A64E-4B4A-A395-45F5D64EA293}">
      <dgm:prSet/>
      <dgm:spPr/>
      <dgm:t>
        <a:bodyPr/>
        <a:lstStyle/>
        <a:p>
          <a:endParaRPr lang="en-US"/>
        </a:p>
      </dgm:t>
    </dgm:pt>
    <dgm:pt modelId="{7B62A83C-AD24-40E2-A616-CFC65D6FBF70}" type="sibTrans" cxnId="{4B0C5A16-A64E-4B4A-A395-45F5D64EA293}">
      <dgm:prSet/>
      <dgm:spPr/>
      <dgm:t>
        <a:bodyPr/>
        <a:lstStyle/>
        <a:p>
          <a:endParaRPr lang="en-US"/>
        </a:p>
      </dgm:t>
    </dgm:pt>
    <dgm:pt modelId="{28BFD623-E6E1-4B1E-A336-ED12ADDBFCAF}">
      <dgm:prSet phldr="0"/>
      <dgm:spPr/>
      <dgm:t>
        <a:bodyPr/>
        <a:lstStyle/>
        <a:p>
          <a:pPr algn="l" rtl="0">
            <a:lnSpc>
              <a:spcPct val="100000"/>
            </a:lnSpc>
          </a:pPr>
          <a:r>
            <a:rPr lang="en-US" sz="1400"/>
            <a:t>The industry has major global competitors, making big project bids competitive</a:t>
          </a:r>
          <a:endParaRPr lang="en-US" sz="1400">
            <a:latin typeface="Neue Haas Grotesk Text Pro"/>
            <a:ea typeface="+mn-ea"/>
            <a:cs typeface="+mn-cs"/>
          </a:endParaRPr>
        </a:p>
      </dgm:t>
    </dgm:pt>
    <dgm:pt modelId="{AC821E25-7D8E-4CBE-B10B-66F0E52843FB}" type="parTrans" cxnId="{412F87D5-F516-E746-B902-010FD007AC9E}">
      <dgm:prSet/>
      <dgm:spPr/>
      <dgm:t>
        <a:bodyPr/>
        <a:lstStyle/>
        <a:p>
          <a:endParaRPr lang="en-US"/>
        </a:p>
      </dgm:t>
    </dgm:pt>
    <dgm:pt modelId="{265770E9-97F6-4662-938D-C8B96FB7AEE3}" type="sibTrans" cxnId="{412F87D5-F516-E746-B902-010FD007AC9E}">
      <dgm:prSet/>
      <dgm:spPr/>
      <dgm:t>
        <a:bodyPr/>
        <a:lstStyle/>
        <a:p>
          <a:endParaRPr lang="en-US"/>
        </a:p>
      </dgm:t>
    </dgm:pt>
    <dgm:pt modelId="{41DF68FF-94FD-4409-BDFB-036FC34260EE}">
      <dgm:prSet phldr="0"/>
      <dgm:spPr/>
      <dgm:t>
        <a:bodyPr/>
        <a:lstStyle/>
        <a:p>
          <a:pPr algn="l">
            <a:lnSpc>
              <a:spcPct val="90000"/>
            </a:lnSpc>
          </a:pPr>
          <a:r>
            <a:rPr lang="en-US" sz="1800"/>
            <a:t>Powell stands out in specialized, engineering-heavy jobs where reliability matters more than size</a:t>
          </a:r>
          <a:endParaRPr lang="en-US"/>
        </a:p>
      </dgm:t>
    </dgm:pt>
    <dgm:pt modelId="{9584B83B-0AD9-4BF2-8CEA-B0DCA90139FD}" type="parTrans" cxnId="{D338D3CA-3A54-2C46-93E1-2FBEB3B78ABD}">
      <dgm:prSet/>
      <dgm:spPr/>
      <dgm:t>
        <a:bodyPr/>
        <a:lstStyle/>
        <a:p>
          <a:endParaRPr lang="en-US"/>
        </a:p>
      </dgm:t>
    </dgm:pt>
    <dgm:pt modelId="{790A6454-8E42-4C02-A8AD-352567C08DF2}" type="sibTrans" cxnId="{D338D3CA-3A54-2C46-93E1-2FBEB3B78ABD}">
      <dgm:prSet/>
      <dgm:spPr/>
      <dgm:t>
        <a:bodyPr/>
        <a:lstStyle/>
        <a:p>
          <a:endParaRPr lang="en-US"/>
        </a:p>
      </dgm:t>
    </dgm:pt>
    <dgm:pt modelId="{2EB1E7BA-88ED-A843-8E45-CC8F9295C168}" type="pres">
      <dgm:prSet presAssocID="{69AFD177-143A-1846-9ABF-A1C772D701A9}" presName="linear" presStyleCnt="0">
        <dgm:presLayoutVars>
          <dgm:dir/>
          <dgm:animLvl val="lvl"/>
          <dgm:resizeHandles val="exact"/>
        </dgm:presLayoutVars>
      </dgm:prSet>
      <dgm:spPr/>
    </dgm:pt>
    <dgm:pt modelId="{15E8EA38-65B1-CB46-9EA0-190899932C5D}" type="pres">
      <dgm:prSet presAssocID="{9B0820FD-C566-EE48-B163-A8CAAD5BFE5E}" presName="parentLin" presStyleCnt="0"/>
      <dgm:spPr/>
    </dgm:pt>
    <dgm:pt modelId="{860471B2-8D2E-1743-BF9B-66C083F1F9B7}" type="pres">
      <dgm:prSet presAssocID="{9B0820FD-C566-EE48-B163-A8CAAD5BFE5E}" presName="parentLeftMargin" presStyleLbl="node1" presStyleIdx="0" presStyleCnt="5"/>
      <dgm:spPr/>
    </dgm:pt>
    <dgm:pt modelId="{A4A4202B-355F-EF41-A970-527036688CF6}" type="pres">
      <dgm:prSet presAssocID="{9B0820FD-C566-EE48-B163-A8CAAD5BFE5E}" presName="parentText" presStyleLbl="node1" presStyleIdx="0" presStyleCnt="5">
        <dgm:presLayoutVars>
          <dgm:chMax val="0"/>
          <dgm:bulletEnabled val="1"/>
        </dgm:presLayoutVars>
      </dgm:prSet>
      <dgm:spPr/>
    </dgm:pt>
    <dgm:pt modelId="{2A2CF40F-1574-B346-9F27-724632A2C11B}" type="pres">
      <dgm:prSet presAssocID="{9B0820FD-C566-EE48-B163-A8CAAD5BFE5E}" presName="negativeSpace" presStyleCnt="0"/>
      <dgm:spPr/>
    </dgm:pt>
    <dgm:pt modelId="{D29DF4E9-3B7C-C04F-8957-986C29C4AE96}" type="pres">
      <dgm:prSet presAssocID="{9B0820FD-C566-EE48-B163-A8CAAD5BFE5E}" presName="childText" presStyleLbl="conFgAcc1" presStyleIdx="0" presStyleCnt="5">
        <dgm:presLayoutVars>
          <dgm:bulletEnabled val="1"/>
        </dgm:presLayoutVars>
      </dgm:prSet>
      <dgm:spPr/>
    </dgm:pt>
    <dgm:pt modelId="{7F1EDFDA-9C66-2D4B-9AC1-80C863265437}" type="pres">
      <dgm:prSet presAssocID="{DED83871-676A-6244-A5B2-D2119FA83EBB}" presName="spaceBetweenRectangles" presStyleCnt="0"/>
      <dgm:spPr/>
    </dgm:pt>
    <dgm:pt modelId="{0353F899-9C0F-C240-A57D-A31C7F20F693}" type="pres">
      <dgm:prSet presAssocID="{13510F0B-67CE-3240-BE33-3B738A51734C}" presName="parentLin" presStyleCnt="0"/>
      <dgm:spPr/>
    </dgm:pt>
    <dgm:pt modelId="{25393E57-CDD4-384D-AADA-FED279A204FD}" type="pres">
      <dgm:prSet presAssocID="{13510F0B-67CE-3240-BE33-3B738A51734C}" presName="parentLeftMargin" presStyleLbl="node1" presStyleIdx="0" presStyleCnt="5"/>
      <dgm:spPr/>
    </dgm:pt>
    <dgm:pt modelId="{12D4B6EB-49EF-AF44-A2AF-7CFB333C7ED7}" type="pres">
      <dgm:prSet presAssocID="{13510F0B-67CE-3240-BE33-3B738A51734C}" presName="parentText" presStyleLbl="node1" presStyleIdx="1" presStyleCnt="5">
        <dgm:presLayoutVars>
          <dgm:chMax val="0"/>
          <dgm:bulletEnabled val="1"/>
        </dgm:presLayoutVars>
      </dgm:prSet>
      <dgm:spPr/>
    </dgm:pt>
    <dgm:pt modelId="{5A90E1A3-81B8-144E-9619-EC43A5628269}" type="pres">
      <dgm:prSet presAssocID="{13510F0B-67CE-3240-BE33-3B738A51734C}" presName="negativeSpace" presStyleCnt="0"/>
      <dgm:spPr/>
    </dgm:pt>
    <dgm:pt modelId="{A97F0DF0-E755-FA4D-A785-4D442960EE56}" type="pres">
      <dgm:prSet presAssocID="{13510F0B-67CE-3240-BE33-3B738A51734C}" presName="childText" presStyleLbl="conFgAcc1" presStyleIdx="1" presStyleCnt="5">
        <dgm:presLayoutVars>
          <dgm:bulletEnabled val="1"/>
        </dgm:presLayoutVars>
      </dgm:prSet>
      <dgm:spPr/>
    </dgm:pt>
    <dgm:pt modelId="{65B89909-985A-F846-A0AA-1C13F70ABDC1}" type="pres">
      <dgm:prSet presAssocID="{05953A25-4C51-F84E-9CE8-7C4DED2F6B22}" presName="spaceBetweenRectangles" presStyleCnt="0"/>
      <dgm:spPr/>
    </dgm:pt>
    <dgm:pt modelId="{F09CA931-6516-1143-B945-3488BBB716AF}" type="pres">
      <dgm:prSet presAssocID="{FB40AE91-FE01-B54F-8C1A-199368D93ADE}" presName="parentLin" presStyleCnt="0"/>
      <dgm:spPr/>
    </dgm:pt>
    <dgm:pt modelId="{71AC353B-F9C3-E242-841F-FD4AF74A7216}" type="pres">
      <dgm:prSet presAssocID="{FB40AE91-FE01-B54F-8C1A-199368D93ADE}" presName="parentLeftMargin" presStyleLbl="node1" presStyleIdx="1" presStyleCnt="5"/>
      <dgm:spPr/>
    </dgm:pt>
    <dgm:pt modelId="{B2A577AF-B1C4-3C4E-80A5-85D09DFD049C}" type="pres">
      <dgm:prSet presAssocID="{FB40AE91-FE01-B54F-8C1A-199368D93ADE}" presName="parentText" presStyleLbl="node1" presStyleIdx="2" presStyleCnt="5">
        <dgm:presLayoutVars>
          <dgm:chMax val="0"/>
          <dgm:bulletEnabled val="1"/>
        </dgm:presLayoutVars>
      </dgm:prSet>
      <dgm:spPr/>
    </dgm:pt>
    <dgm:pt modelId="{312EA465-D907-9340-81F0-33D307739735}" type="pres">
      <dgm:prSet presAssocID="{FB40AE91-FE01-B54F-8C1A-199368D93ADE}" presName="negativeSpace" presStyleCnt="0"/>
      <dgm:spPr/>
    </dgm:pt>
    <dgm:pt modelId="{8414E699-80D6-FA48-8011-984FBCBA0BE1}" type="pres">
      <dgm:prSet presAssocID="{FB40AE91-FE01-B54F-8C1A-199368D93ADE}" presName="childText" presStyleLbl="conFgAcc1" presStyleIdx="2" presStyleCnt="5">
        <dgm:presLayoutVars>
          <dgm:bulletEnabled val="1"/>
        </dgm:presLayoutVars>
      </dgm:prSet>
      <dgm:spPr/>
    </dgm:pt>
    <dgm:pt modelId="{B59F3CFC-4215-E14F-80DE-26527A7C8691}" type="pres">
      <dgm:prSet presAssocID="{DF7E2EF2-46B8-D648-8CB9-5E0C4A8826F3}" presName="spaceBetweenRectangles" presStyleCnt="0"/>
      <dgm:spPr/>
    </dgm:pt>
    <dgm:pt modelId="{2A724DB4-90C7-584D-B9AD-CA3301F7CEC2}" type="pres">
      <dgm:prSet presAssocID="{64A6912E-8381-0046-A1A4-28422FD3B196}" presName="parentLin" presStyleCnt="0"/>
      <dgm:spPr/>
    </dgm:pt>
    <dgm:pt modelId="{72EC9B32-0E8C-C649-A654-8E76A9F398D7}" type="pres">
      <dgm:prSet presAssocID="{64A6912E-8381-0046-A1A4-28422FD3B196}" presName="parentLeftMargin" presStyleLbl="node1" presStyleIdx="2" presStyleCnt="5"/>
      <dgm:spPr/>
    </dgm:pt>
    <dgm:pt modelId="{B777A3BB-B484-4B46-8DE8-375B3C3479B2}" type="pres">
      <dgm:prSet presAssocID="{64A6912E-8381-0046-A1A4-28422FD3B196}" presName="parentText" presStyleLbl="node1" presStyleIdx="3" presStyleCnt="5">
        <dgm:presLayoutVars>
          <dgm:chMax val="0"/>
          <dgm:bulletEnabled val="1"/>
        </dgm:presLayoutVars>
      </dgm:prSet>
      <dgm:spPr/>
    </dgm:pt>
    <dgm:pt modelId="{D060F9E9-8850-1340-801F-36E5D08B40C0}" type="pres">
      <dgm:prSet presAssocID="{64A6912E-8381-0046-A1A4-28422FD3B196}" presName="negativeSpace" presStyleCnt="0"/>
      <dgm:spPr/>
    </dgm:pt>
    <dgm:pt modelId="{D5EEE58B-6D4E-1A43-9021-5FDC0B2EAF86}" type="pres">
      <dgm:prSet presAssocID="{64A6912E-8381-0046-A1A4-28422FD3B196}" presName="childText" presStyleLbl="conFgAcc1" presStyleIdx="3" presStyleCnt="5">
        <dgm:presLayoutVars>
          <dgm:bulletEnabled val="1"/>
        </dgm:presLayoutVars>
      </dgm:prSet>
      <dgm:spPr/>
    </dgm:pt>
    <dgm:pt modelId="{B8B7C427-F800-844D-8135-6870F0436642}" type="pres">
      <dgm:prSet presAssocID="{333D36FD-9FF9-7547-8F06-BD22CA0CFFCD}" presName="spaceBetweenRectangles" presStyleCnt="0"/>
      <dgm:spPr/>
    </dgm:pt>
    <dgm:pt modelId="{59EEB0D2-D5A9-7B46-8A20-B2CA5D14348B}" type="pres">
      <dgm:prSet presAssocID="{B47DFFF6-80B8-B845-93A2-6E6ADB7FB17E}" presName="parentLin" presStyleCnt="0"/>
      <dgm:spPr/>
    </dgm:pt>
    <dgm:pt modelId="{3468DEF7-329B-3A45-BA31-5185722A3E18}" type="pres">
      <dgm:prSet presAssocID="{B47DFFF6-80B8-B845-93A2-6E6ADB7FB17E}" presName="parentLeftMargin" presStyleLbl="node1" presStyleIdx="3" presStyleCnt="5"/>
      <dgm:spPr/>
    </dgm:pt>
    <dgm:pt modelId="{0ABC061A-797D-9E49-93A7-2712CA900EA9}" type="pres">
      <dgm:prSet presAssocID="{B47DFFF6-80B8-B845-93A2-6E6ADB7FB17E}" presName="parentText" presStyleLbl="node1" presStyleIdx="4" presStyleCnt="5">
        <dgm:presLayoutVars>
          <dgm:chMax val="0"/>
          <dgm:bulletEnabled val="1"/>
        </dgm:presLayoutVars>
      </dgm:prSet>
      <dgm:spPr/>
    </dgm:pt>
    <dgm:pt modelId="{D6771713-8BE4-5E49-9F3B-534F71C5AA72}" type="pres">
      <dgm:prSet presAssocID="{B47DFFF6-80B8-B845-93A2-6E6ADB7FB17E}" presName="negativeSpace" presStyleCnt="0"/>
      <dgm:spPr/>
    </dgm:pt>
    <dgm:pt modelId="{A1BD5FC4-7C8D-9D46-898B-9C4591AFFBBD}" type="pres">
      <dgm:prSet presAssocID="{B47DFFF6-80B8-B845-93A2-6E6ADB7FB17E}" presName="childText" presStyleLbl="conFgAcc1" presStyleIdx="4" presStyleCnt="5">
        <dgm:presLayoutVars>
          <dgm:bulletEnabled val="1"/>
        </dgm:presLayoutVars>
      </dgm:prSet>
      <dgm:spPr/>
    </dgm:pt>
  </dgm:ptLst>
  <dgm:cxnLst>
    <dgm:cxn modelId="{30893809-656F-9448-B5A8-3CDE526DA9C5}" type="presOf" srcId="{28BFD623-E6E1-4B1E-A336-ED12ADDBFCAF}" destId="{A1BD5FC4-7C8D-9D46-898B-9C4591AFFBBD}" srcOrd="0" destOrd="0" presId="urn:microsoft.com/office/officeart/2005/8/layout/list1"/>
    <dgm:cxn modelId="{D231BA0A-DFA7-8641-B4F1-F877293BFF08}" type="presOf" srcId="{9B0820FD-C566-EE48-B163-A8CAAD5BFE5E}" destId="{A4A4202B-355F-EF41-A970-527036688CF6}" srcOrd="1" destOrd="0" presId="urn:microsoft.com/office/officeart/2005/8/layout/list1"/>
    <dgm:cxn modelId="{4B0C5A16-A64E-4B4A-A395-45F5D64EA293}" srcId="{64A6912E-8381-0046-A1A4-28422FD3B196}" destId="{66828131-75CE-42B5-AE94-51B5BAF520C8}" srcOrd="1" destOrd="0" parTransId="{02A2649D-8769-4B6D-9C48-E30840399104}" sibTransId="{7B62A83C-AD24-40E2-A616-CFC65D6FBF70}"/>
    <dgm:cxn modelId="{C4F1BB1C-07B8-CD41-9516-68191B99631A}" srcId="{69AFD177-143A-1846-9ABF-A1C772D701A9}" destId="{64A6912E-8381-0046-A1A4-28422FD3B196}" srcOrd="3" destOrd="0" parTransId="{E929FB60-5658-A043-AD8B-185A6A008EBF}" sibTransId="{333D36FD-9FF9-7547-8F06-BD22CA0CFFCD}"/>
    <dgm:cxn modelId="{8480271E-7656-F44D-827C-82A36BBD28C8}" srcId="{13510F0B-67CE-3240-BE33-3B738A51734C}" destId="{08D5482B-89AA-46F8-AA86-A66FDD388B68}" srcOrd="0" destOrd="0" parTransId="{DB1A664E-5D7C-4A32-9723-F4B4844600C4}" sibTransId="{0B40F299-0444-491C-9D1F-10CD275FC7E1}"/>
    <dgm:cxn modelId="{3EAD4132-4B6D-074F-8C4F-694A467A9A17}" srcId="{69AFD177-143A-1846-9ABF-A1C772D701A9}" destId="{13510F0B-67CE-3240-BE33-3B738A51734C}" srcOrd="1" destOrd="0" parTransId="{999664B2-A402-FA4F-A69D-AC17A92CFD5C}" sibTransId="{05953A25-4C51-F84E-9CE8-7C4DED2F6B22}"/>
    <dgm:cxn modelId="{21EC763C-D475-BD41-8DE4-4125194CAA17}" srcId="{69AFD177-143A-1846-9ABF-A1C772D701A9}" destId="{9B0820FD-C566-EE48-B163-A8CAAD5BFE5E}" srcOrd="0" destOrd="0" parTransId="{8F96C640-C5EE-9943-A6E8-D582C75FFE35}" sibTransId="{DED83871-676A-6244-A5B2-D2119FA83EBB}"/>
    <dgm:cxn modelId="{A6DDB843-4E36-9249-B9A8-12DB376BC6B5}" srcId="{FB40AE91-FE01-B54F-8C1A-199368D93ADE}" destId="{EB6FDAC1-D1A1-4321-ABC9-7E8C3FD18A5A}" srcOrd="0" destOrd="0" parTransId="{C1E72E1F-DFB1-42E7-957A-A2F5FB559046}" sibTransId="{B3288214-8041-41DA-B700-D765E81BDC1D}"/>
    <dgm:cxn modelId="{451F3A45-00AF-ED42-A7BB-09EEF3A72B42}" type="presOf" srcId="{FB40AE91-FE01-B54F-8C1A-199368D93ADE}" destId="{71AC353B-F9C3-E242-841F-FD4AF74A7216}" srcOrd="0" destOrd="0" presId="urn:microsoft.com/office/officeart/2005/8/layout/list1"/>
    <dgm:cxn modelId="{51F42C46-77EF-F740-9F7C-1D12D226C2D9}" type="presOf" srcId="{B47DFFF6-80B8-B845-93A2-6E6ADB7FB17E}" destId="{0ABC061A-797D-9E49-93A7-2712CA900EA9}" srcOrd="1" destOrd="0" presId="urn:microsoft.com/office/officeart/2005/8/layout/list1"/>
    <dgm:cxn modelId="{DEF14946-5A17-F44B-9CE9-13CA53837D63}" srcId="{FB40AE91-FE01-B54F-8C1A-199368D93ADE}" destId="{FA53CC57-724D-435E-8FAC-FA574235EF73}" srcOrd="1" destOrd="0" parTransId="{4484A4C3-DD34-49B8-A423-58B201049E96}" sibTransId="{C5496CE8-9A19-42A1-A725-1C3EB8CE1561}"/>
    <dgm:cxn modelId="{2B196F51-3B56-0346-B139-4E20C9662A88}" type="presOf" srcId="{540D4FF4-86B5-4D12-95AF-FA23380CAAC0}" destId="{D29DF4E9-3B7C-C04F-8957-986C29C4AE96}" srcOrd="0" destOrd="0" presId="urn:microsoft.com/office/officeart/2005/8/layout/list1"/>
    <dgm:cxn modelId="{207AA064-CA8C-F043-84EF-2F792A7073AE}" type="presOf" srcId="{66828131-75CE-42B5-AE94-51B5BAF520C8}" destId="{D5EEE58B-6D4E-1A43-9021-5FDC0B2EAF86}" srcOrd="0" destOrd="1" presId="urn:microsoft.com/office/officeart/2005/8/layout/list1"/>
    <dgm:cxn modelId="{00BE0169-EE36-8348-8F53-3120A49B8302}" srcId="{13510F0B-67CE-3240-BE33-3B738A51734C}" destId="{AF5740BF-DBB6-456F-B8F1-BEEFECAFA298}" srcOrd="1" destOrd="0" parTransId="{C2795B05-5575-41D8-80F1-D5C7C79C8EFA}" sibTransId="{7375A92D-588D-4C4F-AB7E-5ABA39F39C85}"/>
    <dgm:cxn modelId="{3C9F166B-0F10-9A4F-A867-961DD0F643A1}" type="presOf" srcId="{13510F0B-67CE-3240-BE33-3B738A51734C}" destId="{12D4B6EB-49EF-AF44-A2AF-7CFB333C7ED7}" srcOrd="1" destOrd="0" presId="urn:microsoft.com/office/officeart/2005/8/layout/list1"/>
    <dgm:cxn modelId="{F3829A6C-51FE-A547-ADFF-8F5987A6F226}" type="presOf" srcId="{FB52BFAF-5D2A-42B5-B438-60B7AE08D4A8}" destId="{D5EEE58B-6D4E-1A43-9021-5FDC0B2EAF86}" srcOrd="0" destOrd="0" presId="urn:microsoft.com/office/officeart/2005/8/layout/list1"/>
    <dgm:cxn modelId="{3807FE6D-8749-F841-9824-5B75D6976FC8}" type="presOf" srcId="{64A6912E-8381-0046-A1A4-28422FD3B196}" destId="{B777A3BB-B484-4B46-8DE8-375B3C3479B2}" srcOrd="1" destOrd="0" presId="urn:microsoft.com/office/officeart/2005/8/layout/list1"/>
    <dgm:cxn modelId="{5BCAEE76-43EB-4841-BA98-F9B9CE904859}" type="presOf" srcId="{08D5482B-89AA-46F8-AA86-A66FDD388B68}" destId="{A97F0DF0-E755-FA4D-A785-4D442960EE56}" srcOrd="0" destOrd="0" presId="urn:microsoft.com/office/officeart/2005/8/layout/list1"/>
    <dgm:cxn modelId="{D70B4585-FFE9-3D43-8390-89357D8A9735}" srcId="{64A6912E-8381-0046-A1A4-28422FD3B196}" destId="{FB52BFAF-5D2A-42B5-B438-60B7AE08D4A8}" srcOrd="0" destOrd="0" parTransId="{79E809EB-FBAC-4F71-8AFB-71B6A64C072C}" sibTransId="{D3F13F36-4F5A-4CBE-B8A6-7095CD40C178}"/>
    <dgm:cxn modelId="{F7604F86-906E-BE42-B9F9-F98A2A00DDA3}" srcId="{9B0820FD-C566-EE48-B163-A8CAAD5BFE5E}" destId="{540D4FF4-86B5-4D12-95AF-FA23380CAAC0}" srcOrd="0" destOrd="0" parTransId="{78FA5F4B-3D74-465B-8073-246516AAF551}" sibTransId="{E50B21BE-E9C3-4B6B-B886-C0BEF8875578}"/>
    <dgm:cxn modelId="{CFBEA28A-81DB-6B40-AFC0-4066AE78CDA8}" type="presOf" srcId="{B47DFFF6-80B8-B845-93A2-6E6ADB7FB17E}" destId="{3468DEF7-329B-3A45-BA31-5185722A3E18}" srcOrd="0" destOrd="0" presId="urn:microsoft.com/office/officeart/2005/8/layout/list1"/>
    <dgm:cxn modelId="{EC116F8E-BF30-0841-94D1-B383B89989FF}" type="presOf" srcId="{AF5740BF-DBB6-456F-B8F1-BEEFECAFA298}" destId="{A97F0DF0-E755-FA4D-A785-4D442960EE56}" srcOrd="0" destOrd="1" presId="urn:microsoft.com/office/officeart/2005/8/layout/list1"/>
    <dgm:cxn modelId="{F5200495-8A5D-224C-936C-35786FC5584C}" type="presOf" srcId="{8A091D6D-0DAD-4F48-9E65-2FCAD34C4743}" destId="{D29DF4E9-3B7C-C04F-8957-986C29C4AE96}" srcOrd="0" destOrd="1" presId="urn:microsoft.com/office/officeart/2005/8/layout/list1"/>
    <dgm:cxn modelId="{10787E99-C251-E244-996D-DAAD39EBAE8E}" type="presOf" srcId="{64A6912E-8381-0046-A1A4-28422FD3B196}" destId="{72EC9B32-0E8C-C649-A654-8E76A9F398D7}" srcOrd="0" destOrd="0" presId="urn:microsoft.com/office/officeart/2005/8/layout/list1"/>
    <dgm:cxn modelId="{0569A8A8-57A0-9348-9A8E-B3AD763DB5F7}" srcId="{69AFD177-143A-1846-9ABF-A1C772D701A9}" destId="{FB40AE91-FE01-B54F-8C1A-199368D93ADE}" srcOrd="2" destOrd="0" parTransId="{162875D5-7454-C54C-93D4-5AF4E0BB9074}" sibTransId="{DF7E2EF2-46B8-D648-8CB9-5E0C4A8826F3}"/>
    <dgm:cxn modelId="{553EE4BB-0E1D-8045-8B46-7195EAD3665F}" type="presOf" srcId="{FA53CC57-724D-435E-8FAC-FA574235EF73}" destId="{8414E699-80D6-FA48-8011-984FBCBA0BE1}" srcOrd="0" destOrd="1" presId="urn:microsoft.com/office/officeart/2005/8/layout/list1"/>
    <dgm:cxn modelId="{29FBCDBC-265F-404A-B867-6309272095AB}" type="presOf" srcId="{69AFD177-143A-1846-9ABF-A1C772D701A9}" destId="{2EB1E7BA-88ED-A843-8E45-CC8F9295C168}" srcOrd="0" destOrd="0" presId="urn:microsoft.com/office/officeart/2005/8/layout/list1"/>
    <dgm:cxn modelId="{8F8812C7-CA3A-1249-976F-7853FA62691E}" srcId="{69AFD177-143A-1846-9ABF-A1C772D701A9}" destId="{B47DFFF6-80B8-B845-93A2-6E6ADB7FB17E}" srcOrd="4" destOrd="0" parTransId="{FDA11C82-BDAD-EA4F-8100-BC8D6EFA2D61}" sibTransId="{BFCEA1FD-CF72-0940-9969-B7A000CDBB35}"/>
    <dgm:cxn modelId="{9E7FA6CA-DAB6-6D41-8EFE-6C31D3527BA6}" type="presOf" srcId="{41DF68FF-94FD-4409-BDFB-036FC34260EE}" destId="{A1BD5FC4-7C8D-9D46-898B-9C4591AFFBBD}" srcOrd="0" destOrd="1" presId="urn:microsoft.com/office/officeart/2005/8/layout/list1"/>
    <dgm:cxn modelId="{D338D3CA-3A54-2C46-93E1-2FBEB3B78ABD}" srcId="{B47DFFF6-80B8-B845-93A2-6E6ADB7FB17E}" destId="{41DF68FF-94FD-4409-BDFB-036FC34260EE}" srcOrd="1" destOrd="0" parTransId="{9584B83B-0AD9-4BF2-8CEA-B0DCA90139FD}" sibTransId="{790A6454-8E42-4C02-A8AD-352567C08DF2}"/>
    <dgm:cxn modelId="{412F87D5-F516-E746-B902-010FD007AC9E}" srcId="{B47DFFF6-80B8-B845-93A2-6E6ADB7FB17E}" destId="{28BFD623-E6E1-4B1E-A336-ED12ADDBFCAF}" srcOrd="0" destOrd="0" parTransId="{AC821E25-7D8E-4CBE-B10B-66F0E52843FB}" sibTransId="{265770E9-97F6-4662-938D-C8B96FB7AEE3}"/>
    <dgm:cxn modelId="{45C21FD8-774F-F145-BDAD-98CC00B639DB}" type="presOf" srcId="{9B0820FD-C566-EE48-B163-A8CAAD5BFE5E}" destId="{860471B2-8D2E-1743-BF9B-66C083F1F9B7}" srcOrd="0" destOrd="0" presId="urn:microsoft.com/office/officeart/2005/8/layout/list1"/>
    <dgm:cxn modelId="{8DA36DDC-289F-5148-8DEC-EE1657C8F467}" type="presOf" srcId="{13510F0B-67CE-3240-BE33-3B738A51734C}" destId="{25393E57-CDD4-384D-AADA-FED279A204FD}" srcOrd="0" destOrd="0" presId="urn:microsoft.com/office/officeart/2005/8/layout/list1"/>
    <dgm:cxn modelId="{1101E3F2-4D7E-7E48-9DBE-7FDA5B0916BC}" type="presOf" srcId="{EB6FDAC1-D1A1-4321-ABC9-7E8C3FD18A5A}" destId="{8414E699-80D6-FA48-8011-984FBCBA0BE1}" srcOrd="0" destOrd="0" presId="urn:microsoft.com/office/officeart/2005/8/layout/list1"/>
    <dgm:cxn modelId="{9CF181F3-BF33-B547-B979-3E7972A8F3DB}" srcId="{9B0820FD-C566-EE48-B163-A8CAAD5BFE5E}" destId="{8A091D6D-0DAD-4F48-9E65-2FCAD34C4743}" srcOrd="1" destOrd="0" parTransId="{163F4111-E295-4196-AB12-B35EA3ABD703}" sibTransId="{EC7AC24B-BBA0-40FA-9EED-21DF35846079}"/>
    <dgm:cxn modelId="{1F3287FC-20C4-B54C-8D25-89E93E23A388}" type="presOf" srcId="{FB40AE91-FE01-B54F-8C1A-199368D93ADE}" destId="{B2A577AF-B1C4-3C4E-80A5-85D09DFD049C}" srcOrd="1" destOrd="0" presId="urn:microsoft.com/office/officeart/2005/8/layout/list1"/>
    <dgm:cxn modelId="{7B590738-AA76-2842-9A7B-ED74481D5A18}" type="presParOf" srcId="{2EB1E7BA-88ED-A843-8E45-CC8F9295C168}" destId="{15E8EA38-65B1-CB46-9EA0-190899932C5D}" srcOrd="0" destOrd="0" presId="urn:microsoft.com/office/officeart/2005/8/layout/list1"/>
    <dgm:cxn modelId="{813EA291-F831-1841-9A02-CB346589A9CD}" type="presParOf" srcId="{15E8EA38-65B1-CB46-9EA0-190899932C5D}" destId="{860471B2-8D2E-1743-BF9B-66C083F1F9B7}" srcOrd="0" destOrd="0" presId="urn:microsoft.com/office/officeart/2005/8/layout/list1"/>
    <dgm:cxn modelId="{044DECCC-42E7-CF48-8E36-05DB82E29375}" type="presParOf" srcId="{15E8EA38-65B1-CB46-9EA0-190899932C5D}" destId="{A4A4202B-355F-EF41-A970-527036688CF6}" srcOrd="1" destOrd="0" presId="urn:microsoft.com/office/officeart/2005/8/layout/list1"/>
    <dgm:cxn modelId="{46E86CEE-CAC7-6249-90A0-E9E5C2C216D2}" type="presParOf" srcId="{2EB1E7BA-88ED-A843-8E45-CC8F9295C168}" destId="{2A2CF40F-1574-B346-9F27-724632A2C11B}" srcOrd="1" destOrd="0" presId="urn:microsoft.com/office/officeart/2005/8/layout/list1"/>
    <dgm:cxn modelId="{18158E25-B6F3-254E-B9DC-4F290E549D7A}" type="presParOf" srcId="{2EB1E7BA-88ED-A843-8E45-CC8F9295C168}" destId="{D29DF4E9-3B7C-C04F-8957-986C29C4AE96}" srcOrd="2" destOrd="0" presId="urn:microsoft.com/office/officeart/2005/8/layout/list1"/>
    <dgm:cxn modelId="{2AEBB1EB-5D58-FA4F-88C8-74FF8B80753F}" type="presParOf" srcId="{2EB1E7BA-88ED-A843-8E45-CC8F9295C168}" destId="{7F1EDFDA-9C66-2D4B-9AC1-80C863265437}" srcOrd="3" destOrd="0" presId="urn:microsoft.com/office/officeart/2005/8/layout/list1"/>
    <dgm:cxn modelId="{CE4AE53B-441F-C048-8F71-08094DFADED3}" type="presParOf" srcId="{2EB1E7BA-88ED-A843-8E45-CC8F9295C168}" destId="{0353F899-9C0F-C240-A57D-A31C7F20F693}" srcOrd="4" destOrd="0" presId="urn:microsoft.com/office/officeart/2005/8/layout/list1"/>
    <dgm:cxn modelId="{DD351BDC-E3E7-E542-BC2B-9F86B483EAC7}" type="presParOf" srcId="{0353F899-9C0F-C240-A57D-A31C7F20F693}" destId="{25393E57-CDD4-384D-AADA-FED279A204FD}" srcOrd="0" destOrd="0" presId="urn:microsoft.com/office/officeart/2005/8/layout/list1"/>
    <dgm:cxn modelId="{19BDA426-F123-A744-88BC-33DAC4BF6147}" type="presParOf" srcId="{0353F899-9C0F-C240-A57D-A31C7F20F693}" destId="{12D4B6EB-49EF-AF44-A2AF-7CFB333C7ED7}" srcOrd="1" destOrd="0" presId="urn:microsoft.com/office/officeart/2005/8/layout/list1"/>
    <dgm:cxn modelId="{559B1C7A-82DA-2741-8884-CFBE9AB33878}" type="presParOf" srcId="{2EB1E7BA-88ED-A843-8E45-CC8F9295C168}" destId="{5A90E1A3-81B8-144E-9619-EC43A5628269}" srcOrd="5" destOrd="0" presId="urn:microsoft.com/office/officeart/2005/8/layout/list1"/>
    <dgm:cxn modelId="{EFDC68A4-5FBD-DC44-82C4-8A09D21D8466}" type="presParOf" srcId="{2EB1E7BA-88ED-A843-8E45-CC8F9295C168}" destId="{A97F0DF0-E755-FA4D-A785-4D442960EE56}" srcOrd="6" destOrd="0" presId="urn:microsoft.com/office/officeart/2005/8/layout/list1"/>
    <dgm:cxn modelId="{DDE4F534-5094-C74F-B90E-02CADA1AADDC}" type="presParOf" srcId="{2EB1E7BA-88ED-A843-8E45-CC8F9295C168}" destId="{65B89909-985A-F846-A0AA-1C13F70ABDC1}" srcOrd="7" destOrd="0" presId="urn:microsoft.com/office/officeart/2005/8/layout/list1"/>
    <dgm:cxn modelId="{AA30D3CE-6CB8-C84F-BA0B-289936CB2D8A}" type="presParOf" srcId="{2EB1E7BA-88ED-A843-8E45-CC8F9295C168}" destId="{F09CA931-6516-1143-B945-3488BBB716AF}" srcOrd="8" destOrd="0" presId="urn:microsoft.com/office/officeart/2005/8/layout/list1"/>
    <dgm:cxn modelId="{AE278767-3F8E-4C41-B544-90048B48415C}" type="presParOf" srcId="{F09CA931-6516-1143-B945-3488BBB716AF}" destId="{71AC353B-F9C3-E242-841F-FD4AF74A7216}" srcOrd="0" destOrd="0" presId="urn:microsoft.com/office/officeart/2005/8/layout/list1"/>
    <dgm:cxn modelId="{A2E1EFA2-F42C-CA40-84CF-2C2313686E2B}" type="presParOf" srcId="{F09CA931-6516-1143-B945-3488BBB716AF}" destId="{B2A577AF-B1C4-3C4E-80A5-85D09DFD049C}" srcOrd="1" destOrd="0" presId="urn:microsoft.com/office/officeart/2005/8/layout/list1"/>
    <dgm:cxn modelId="{0BB2D8C4-A10B-0448-BDBC-BEF088526A4A}" type="presParOf" srcId="{2EB1E7BA-88ED-A843-8E45-CC8F9295C168}" destId="{312EA465-D907-9340-81F0-33D307739735}" srcOrd="9" destOrd="0" presId="urn:microsoft.com/office/officeart/2005/8/layout/list1"/>
    <dgm:cxn modelId="{33476EEA-DC61-434B-A34C-A928277D82BC}" type="presParOf" srcId="{2EB1E7BA-88ED-A843-8E45-CC8F9295C168}" destId="{8414E699-80D6-FA48-8011-984FBCBA0BE1}" srcOrd="10" destOrd="0" presId="urn:microsoft.com/office/officeart/2005/8/layout/list1"/>
    <dgm:cxn modelId="{2CC20E37-F470-2C4C-9F85-5AC7CE860464}" type="presParOf" srcId="{2EB1E7BA-88ED-A843-8E45-CC8F9295C168}" destId="{B59F3CFC-4215-E14F-80DE-26527A7C8691}" srcOrd="11" destOrd="0" presId="urn:microsoft.com/office/officeart/2005/8/layout/list1"/>
    <dgm:cxn modelId="{E621B663-B029-5549-8459-E63DA963C996}" type="presParOf" srcId="{2EB1E7BA-88ED-A843-8E45-CC8F9295C168}" destId="{2A724DB4-90C7-584D-B9AD-CA3301F7CEC2}" srcOrd="12" destOrd="0" presId="urn:microsoft.com/office/officeart/2005/8/layout/list1"/>
    <dgm:cxn modelId="{F1D8B66F-C882-0646-B350-E5D6681AFEAD}" type="presParOf" srcId="{2A724DB4-90C7-584D-B9AD-CA3301F7CEC2}" destId="{72EC9B32-0E8C-C649-A654-8E76A9F398D7}" srcOrd="0" destOrd="0" presId="urn:microsoft.com/office/officeart/2005/8/layout/list1"/>
    <dgm:cxn modelId="{DFB43BEB-6083-4444-A797-4D13D632C2DB}" type="presParOf" srcId="{2A724DB4-90C7-584D-B9AD-CA3301F7CEC2}" destId="{B777A3BB-B484-4B46-8DE8-375B3C3479B2}" srcOrd="1" destOrd="0" presId="urn:microsoft.com/office/officeart/2005/8/layout/list1"/>
    <dgm:cxn modelId="{81020CED-06EF-D54C-8B3A-947350CAAA2B}" type="presParOf" srcId="{2EB1E7BA-88ED-A843-8E45-CC8F9295C168}" destId="{D060F9E9-8850-1340-801F-36E5D08B40C0}" srcOrd="13" destOrd="0" presId="urn:microsoft.com/office/officeart/2005/8/layout/list1"/>
    <dgm:cxn modelId="{41E40638-AE85-1645-BD94-038B0CC5B44E}" type="presParOf" srcId="{2EB1E7BA-88ED-A843-8E45-CC8F9295C168}" destId="{D5EEE58B-6D4E-1A43-9021-5FDC0B2EAF86}" srcOrd="14" destOrd="0" presId="urn:microsoft.com/office/officeart/2005/8/layout/list1"/>
    <dgm:cxn modelId="{AB4DE0F7-A046-EE4C-BEA7-3971D29DD963}" type="presParOf" srcId="{2EB1E7BA-88ED-A843-8E45-CC8F9295C168}" destId="{B8B7C427-F800-844D-8135-6870F0436642}" srcOrd="15" destOrd="0" presId="urn:microsoft.com/office/officeart/2005/8/layout/list1"/>
    <dgm:cxn modelId="{7E344DEB-F178-604B-A5B7-F818FBF13105}" type="presParOf" srcId="{2EB1E7BA-88ED-A843-8E45-CC8F9295C168}" destId="{59EEB0D2-D5A9-7B46-8A20-B2CA5D14348B}" srcOrd="16" destOrd="0" presId="urn:microsoft.com/office/officeart/2005/8/layout/list1"/>
    <dgm:cxn modelId="{618ABB51-6435-234E-B9CB-2659E4EF11A1}" type="presParOf" srcId="{59EEB0D2-D5A9-7B46-8A20-B2CA5D14348B}" destId="{3468DEF7-329B-3A45-BA31-5185722A3E18}" srcOrd="0" destOrd="0" presId="urn:microsoft.com/office/officeart/2005/8/layout/list1"/>
    <dgm:cxn modelId="{D65B4A26-5B24-D946-A9D4-22B48D2B5C6A}" type="presParOf" srcId="{59EEB0D2-D5A9-7B46-8A20-B2CA5D14348B}" destId="{0ABC061A-797D-9E49-93A7-2712CA900EA9}" srcOrd="1" destOrd="0" presId="urn:microsoft.com/office/officeart/2005/8/layout/list1"/>
    <dgm:cxn modelId="{A7A9532B-A081-824F-A8B2-4A1C51D5C249}" type="presParOf" srcId="{2EB1E7BA-88ED-A843-8E45-CC8F9295C168}" destId="{D6771713-8BE4-5E49-9F3B-534F71C5AA72}" srcOrd="17" destOrd="0" presId="urn:microsoft.com/office/officeart/2005/8/layout/list1"/>
    <dgm:cxn modelId="{34F53AFE-6674-CF48-BE0A-722687A956A2}" type="presParOf" srcId="{2EB1E7BA-88ED-A843-8E45-CC8F9295C168}" destId="{A1BD5FC4-7C8D-9D46-898B-9C4591AFFBBD}" srcOrd="18"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F2C54B-71EA-5343-BB3E-0BC9DDF06EF9}">
      <dsp:nvSpPr>
        <dsp:cNvPr id="0" name=""/>
        <dsp:cNvSpPr/>
      </dsp:nvSpPr>
      <dsp:spPr>
        <a:xfrm>
          <a:off x="5634451" y="3586613"/>
          <a:ext cx="2836100" cy="1837150"/>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114300" lvl="1" indent="-114300" algn="l" defTabSz="622300">
            <a:lnSpc>
              <a:spcPct val="90000"/>
            </a:lnSpc>
            <a:spcBef>
              <a:spcPct val="0"/>
            </a:spcBef>
            <a:spcAft>
              <a:spcPct val="15000"/>
            </a:spcAft>
            <a:buChar char="•"/>
          </a:pPr>
          <a:r>
            <a:rPr lang="en-US" sz="1400" kern="1200"/>
            <a:t>Intense Competition in EE industry</a:t>
          </a:r>
        </a:p>
        <a:p>
          <a:pPr marL="114300" lvl="1" indent="-114300" algn="l" defTabSz="622300">
            <a:lnSpc>
              <a:spcPct val="90000"/>
            </a:lnSpc>
            <a:spcBef>
              <a:spcPct val="0"/>
            </a:spcBef>
            <a:spcAft>
              <a:spcPct val="15000"/>
            </a:spcAft>
            <a:buChar char="•"/>
          </a:pPr>
          <a:r>
            <a:rPr lang="en-US" sz="1400" kern="1200"/>
            <a:t>Raw Material Price Volatility</a:t>
          </a:r>
        </a:p>
      </dsp:txBody>
      <dsp:txXfrm>
        <a:off x="6525638" y="4086257"/>
        <a:ext cx="1904558" cy="1297150"/>
      </dsp:txXfrm>
    </dsp:sp>
    <dsp:sp modelId="{E4D8E649-803C-D740-812D-103385ADCF93}">
      <dsp:nvSpPr>
        <dsp:cNvPr id="0" name=""/>
        <dsp:cNvSpPr/>
      </dsp:nvSpPr>
      <dsp:spPr>
        <a:xfrm>
          <a:off x="145011" y="3586613"/>
          <a:ext cx="2836100" cy="1837150"/>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114300" lvl="1" indent="-114300" algn="l" defTabSz="533400">
            <a:lnSpc>
              <a:spcPct val="90000"/>
            </a:lnSpc>
            <a:spcBef>
              <a:spcPct val="0"/>
            </a:spcBef>
            <a:spcAft>
              <a:spcPct val="15000"/>
            </a:spcAft>
            <a:buChar char="•"/>
          </a:pPr>
          <a:r>
            <a:rPr lang="en-US" sz="1200" kern="1200"/>
            <a:t>Geographic Expansion (ex. Asia)</a:t>
          </a:r>
        </a:p>
        <a:p>
          <a:pPr marL="114300" lvl="1" indent="-114300" algn="l" defTabSz="533400">
            <a:lnSpc>
              <a:spcPct val="90000"/>
            </a:lnSpc>
            <a:spcBef>
              <a:spcPct val="0"/>
            </a:spcBef>
            <a:spcAft>
              <a:spcPct val="15000"/>
            </a:spcAft>
            <a:buChar char="•"/>
          </a:pPr>
          <a:r>
            <a:rPr lang="en-US" sz="1200" kern="1200"/>
            <a:t>Tap into growing markets (ex. EV charging infrastructure and smart grid technology)</a:t>
          </a:r>
        </a:p>
      </dsp:txBody>
      <dsp:txXfrm>
        <a:off x="185367" y="4086257"/>
        <a:ext cx="1904558" cy="1297150"/>
      </dsp:txXfrm>
    </dsp:sp>
    <dsp:sp modelId="{62BD9534-D9A5-F545-BAC2-52990573BE11}">
      <dsp:nvSpPr>
        <dsp:cNvPr id="0" name=""/>
        <dsp:cNvSpPr/>
      </dsp:nvSpPr>
      <dsp:spPr>
        <a:xfrm>
          <a:off x="5674981" y="39186"/>
          <a:ext cx="2836100" cy="1837150"/>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114300" lvl="1" indent="-114300" algn="l" defTabSz="622300">
            <a:lnSpc>
              <a:spcPct val="90000"/>
            </a:lnSpc>
            <a:spcBef>
              <a:spcPct val="0"/>
            </a:spcBef>
            <a:spcAft>
              <a:spcPct val="15000"/>
            </a:spcAft>
            <a:buChar char="•"/>
          </a:pPr>
          <a:r>
            <a:rPr lang="en-US" sz="1400" kern="1200"/>
            <a:t>Small market cap</a:t>
          </a:r>
        </a:p>
        <a:p>
          <a:pPr marL="114300" lvl="1" indent="-114300" algn="l" defTabSz="622300">
            <a:lnSpc>
              <a:spcPct val="90000"/>
            </a:lnSpc>
            <a:spcBef>
              <a:spcPct val="0"/>
            </a:spcBef>
            <a:spcAft>
              <a:spcPct val="15000"/>
            </a:spcAft>
            <a:buChar char="•"/>
          </a:pPr>
          <a:r>
            <a:rPr lang="en-US" sz="1400" kern="1200"/>
            <a:t>Dependence on industrial and utility sector</a:t>
          </a:r>
        </a:p>
        <a:p>
          <a:pPr marL="114300" lvl="1" indent="-114300" algn="l" defTabSz="622300">
            <a:lnSpc>
              <a:spcPct val="90000"/>
            </a:lnSpc>
            <a:spcBef>
              <a:spcPct val="0"/>
            </a:spcBef>
            <a:spcAft>
              <a:spcPct val="15000"/>
            </a:spcAft>
            <a:buChar char="•"/>
          </a:pPr>
          <a:r>
            <a:rPr lang="en-US" sz="1400" kern="1200"/>
            <a:t>Significant concentration in North American market</a:t>
          </a:r>
        </a:p>
      </dsp:txBody>
      <dsp:txXfrm>
        <a:off x="6566167" y="79542"/>
        <a:ext cx="1904558" cy="1297150"/>
      </dsp:txXfrm>
    </dsp:sp>
    <dsp:sp modelId="{02CA5DAC-2F01-4647-8EE0-0C8DA46B263E}">
      <dsp:nvSpPr>
        <dsp:cNvPr id="0" name=""/>
        <dsp:cNvSpPr/>
      </dsp:nvSpPr>
      <dsp:spPr>
        <a:xfrm>
          <a:off x="131880" y="39186"/>
          <a:ext cx="2836100" cy="1837150"/>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114300" lvl="1" indent="-114300" algn="l" defTabSz="622300">
            <a:lnSpc>
              <a:spcPct val="90000"/>
            </a:lnSpc>
            <a:spcBef>
              <a:spcPct val="0"/>
            </a:spcBef>
            <a:spcAft>
              <a:spcPct val="15000"/>
            </a:spcAft>
            <a:buChar char="•"/>
          </a:pPr>
          <a:r>
            <a:rPr lang="en-US" sz="1400" kern="1200"/>
            <a:t>Specialized product offerings</a:t>
          </a:r>
        </a:p>
        <a:p>
          <a:pPr marL="114300" lvl="1" indent="-114300" algn="l" defTabSz="622300">
            <a:lnSpc>
              <a:spcPct val="90000"/>
            </a:lnSpc>
            <a:spcBef>
              <a:spcPct val="0"/>
            </a:spcBef>
            <a:spcAft>
              <a:spcPct val="15000"/>
            </a:spcAft>
            <a:buChar char="•"/>
          </a:pPr>
          <a:r>
            <a:rPr lang="en-US" sz="1400" kern="1200"/>
            <a:t>Extensive manufacturing</a:t>
          </a:r>
        </a:p>
        <a:p>
          <a:pPr marL="114300" lvl="1" indent="-114300" algn="l" defTabSz="622300">
            <a:lnSpc>
              <a:spcPct val="90000"/>
            </a:lnSpc>
            <a:spcBef>
              <a:spcPct val="0"/>
            </a:spcBef>
            <a:spcAft>
              <a:spcPct val="15000"/>
            </a:spcAft>
            <a:buChar char="•"/>
          </a:pPr>
          <a:r>
            <a:rPr lang="en-US" sz="1400" kern="1200"/>
            <a:t>Positive Revenue Growth</a:t>
          </a:r>
        </a:p>
      </dsp:txBody>
      <dsp:txXfrm>
        <a:off x="172236" y="79542"/>
        <a:ext cx="1904558" cy="1297150"/>
      </dsp:txXfrm>
    </dsp:sp>
    <dsp:sp modelId="{84565853-7CA8-7146-9901-8A67EFAD587E}">
      <dsp:nvSpPr>
        <dsp:cNvPr id="0" name=""/>
        <dsp:cNvSpPr/>
      </dsp:nvSpPr>
      <dsp:spPr>
        <a:xfrm>
          <a:off x="1712235" y="327242"/>
          <a:ext cx="2485894" cy="2485894"/>
        </a:xfrm>
        <a:prstGeom prst="pieWedg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a:t>Strengths</a:t>
          </a:r>
        </a:p>
      </dsp:txBody>
      <dsp:txXfrm>
        <a:off x="2440336" y="1055343"/>
        <a:ext cx="1757793" cy="1757793"/>
      </dsp:txXfrm>
    </dsp:sp>
    <dsp:sp modelId="{65E93221-385B-EC45-9CDF-9A2B56AF62EA}">
      <dsp:nvSpPr>
        <dsp:cNvPr id="0" name=""/>
        <dsp:cNvSpPr/>
      </dsp:nvSpPr>
      <dsp:spPr>
        <a:xfrm rot="5400000">
          <a:off x="4312951" y="327242"/>
          <a:ext cx="2485894" cy="2485894"/>
        </a:xfrm>
        <a:prstGeom prst="pieWedg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a:t>Weaknesses</a:t>
          </a:r>
        </a:p>
      </dsp:txBody>
      <dsp:txXfrm rot="-5400000">
        <a:off x="4312951" y="1055343"/>
        <a:ext cx="1757793" cy="1757793"/>
      </dsp:txXfrm>
    </dsp:sp>
    <dsp:sp modelId="{228055B2-D88A-404E-9177-FAA03EC2211C}">
      <dsp:nvSpPr>
        <dsp:cNvPr id="0" name=""/>
        <dsp:cNvSpPr/>
      </dsp:nvSpPr>
      <dsp:spPr>
        <a:xfrm rot="10800000">
          <a:off x="4312951" y="2927958"/>
          <a:ext cx="2485894" cy="2485894"/>
        </a:xfrm>
        <a:prstGeom prst="pieWedg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a:t>Threats</a:t>
          </a:r>
        </a:p>
      </dsp:txBody>
      <dsp:txXfrm rot="10800000">
        <a:off x="4312951" y="2927958"/>
        <a:ext cx="1757793" cy="1757793"/>
      </dsp:txXfrm>
    </dsp:sp>
    <dsp:sp modelId="{8345D95F-4797-3146-83EF-DBF68480FE12}">
      <dsp:nvSpPr>
        <dsp:cNvPr id="0" name=""/>
        <dsp:cNvSpPr/>
      </dsp:nvSpPr>
      <dsp:spPr>
        <a:xfrm rot="16200000">
          <a:off x="1699184" y="2937877"/>
          <a:ext cx="2485894" cy="2485894"/>
        </a:xfrm>
        <a:prstGeom prst="pieWedg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1" kern="1200"/>
            <a:t>Opportunities</a:t>
          </a:r>
          <a:endParaRPr lang="en-US" sz="1700" b="1" kern="1200"/>
        </a:p>
      </dsp:txBody>
      <dsp:txXfrm rot="5400000">
        <a:off x="2427285" y="2937877"/>
        <a:ext cx="1757793" cy="1757793"/>
      </dsp:txXfrm>
    </dsp:sp>
    <dsp:sp modelId="{8088A1F8-6E0F-5D44-ABC8-7D9713E7EFF7}">
      <dsp:nvSpPr>
        <dsp:cNvPr id="0" name=""/>
        <dsp:cNvSpPr/>
      </dsp:nvSpPr>
      <dsp:spPr>
        <a:xfrm>
          <a:off x="3943963" y="2397218"/>
          <a:ext cx="858293" cy="746342"/>
        </a:xfrm>
        <a:prstGeom prst="arc">
          <a:avLst/>
        </a:prstGeom>
        <a:solidFill>
          <a:schemeClr val="accent6"/>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FA26AD7A-CC9B-B44C-83BF-2528080E331B}">
      <dsp:nvSpPr>
        <dsp:cNvPr id="0" name=""/>
        <dsp:cNvSpPr/>
      </dsp:nvSpPr>
      <dsp:spPr>
        <a:xfrm rot="10800000">
          <a:off x="3681196" y="2498128"/>
          <a:ext cx="858293" cy="1005338"/>
        </a:xfrm>
        <a:prstGeom prst="arc">
          <a:avLst/>
        </a:prstGeom>
        <a:solidFill>
          <a:schemeClr val="accent6"/>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9DF4E9-3B7C-C04F-8957-986C29C4AE96}">
      <dsp:nvSpPr>
        <dsp:cNvPr id="0" name=""/>
        <dsp:cNvSpPr/>
      </dsp:nvSpPr>
      <dsp:spPr>
        <a:xfrm>
          <a:off x="0" y="258778"/>
          <a:ext cx="10828346" cy="837900"/>
        </a:xfrm>
        <a:prstGeom prst="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0400" tIns="291592" rIns="840400" bIns="99568" numCol="1" spcCol="1270" anchor="t" anchorCtr="0">
          <a:noAutofit/>
        </a:bodyPr>
        <a:lstStyle/>
        <a:p>
          <a:pPr marL="114300" lvl="1" indent="-114300" algn="l" defTabSz="622300" rtl="0">
            <a:lnSpc>
              <a:spcPct val="100000"/>
            </a:lnSpc>
            <a:spcBef>
              <a:spcPct val="0"/>
            </a:spcBef>
            <a:spcAft>
              <a:spcPct val="15000"/>
            </a:spcAft>
            <a:buChar char="•"/>
          </a:pPr>
          <a:r>
            <a:rPr lang="en-US" sz="1400" kern="1200"/>
            <a:t>Starting a company like Powell requires massive upfront costs and strict safety </a:t>
          </a:r>
          <a:r>
            <a:rPr lang="en-US" sz="1400" kern="1200">
              <a:latin typeface="Neue Haas Grotesk Text Pro"/>
            </a:rPr>
            <a:t>regulations</a:t>
          </a:r>
          <a:endParaRPr lang="en-US" sz="1400" kern="1200">
            <a:latin typeface="Neue Haas Grotesk Text Pro"/>
            <a:ea typeface="+mn-ea"/>
            <a:cs typeface="+mn-cs"/>
          </a:endParaRPr>
        </a:p>
        <a:p>
          <a:pPr marL="114300" lvl="1" indent="-114300" algn="l" defTabSz="622300">
            <a:lnSpc>
              <a:spcPct val="90000"/>
            </a:lnSpc>
            <a:spcBef>
              <a:spcPct val="0"/>
            </a:spcBef>
            <a:spcAft>
              <a:spcPct val="15000"/>
            </a:spcAft>
            <a:buChar char="•"/>
          </a:pPr>
          <a:r>
            <a:rPr lang="en-US" sz="1400" kern="1200"/>
            <a:t>Powell’s decades of experience and strong supplier relationships make it hard for new players to compete</a:t>
          </a:r>
        </a:p>
      </dsp:txBody>
      <dsp:txXfrm>
        <a:off x="0" y="258778"/>
        <a:ext cx="10828346" cy="837900"/>
      </dsp:txXfrm>
    </dsp:sp>
    <dsp:sp modelId="{A4A4202B-355F-EF41-A970-527036688CF6}">
      <dsp:nvSpPr>
        <dsp:cNvPr id="0" name=""/>
        <dsp:cNvSpPr/>
      </dsp:nvSpPr>
      <dsp:spPr>
        <a:xfrm>
          <a:off x="541417" y="52138"/>
          <a:ext cx="7579842" cy="41328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6500" tIns="0" rIns="286500" bIns="0" numCol="1" spcCol="1270" anchor="ctr" anchorCtr="0">
          <a:noAutofit/>
        </a:bodyPr>
        <a:lstStyle/>
        <a:p>
          <a:pPr marL="0" lvl="0" indent="0" algn="l" defTabSz="622300">
            <a:lnSpc>
              <a:spcPct val="90000"/>
            </a:lnSpc>
            <a:spcBef>
              <a:spcPct val="0"/>
            </a:spcBef>
            <a:spcAft>
              <a:spcPct val="35000"/>
            </a:spcAft>
            <a:buNone/>
          </a:pPr>
          <a:r>
            <a:rPr lang="en-US" sz="1400" kern="1200">
              <a:solidFill>
                <a:srgbClr val="FFFFFF"/>
              </a:solidFill>
              <a:ea typeface="+mn-ea"/>
              <a:cs typeface="+mn-cs"/>
            </a:rPr>
            <a:t>Threat of New </a:t>
          </a:r>
          <a:r>
            <a:rPr lang="en-US" sz="1400" kern="1200">
              <a:solidFill>
                <a:srgbClr val="FFFFFF"/>
              </a:solidFill>
              <a:latin typeface="Neue Haas Grotesk Text Pro"/>
              <a:ea typeface="+mn-ea"/>
              <a:cs typeface="+mn-cs"/>
            </a:rPr>
            <a:t>Entrants: </a:t>
          </a:r>
          <a:r>
            <a:rPr lang="en-US" sz="1400" b="1" kern="1200">
              <a:solidFill>
                <a:srgbClr val="FFFFFF"/>
              </a:solidFill>
              <a:latin typeface="Neue Haas Grotesk Text Pro"/>
              <a:ea typeface="+mn-ea"/>
              <a:cs typeface="+mn-cs"/>
            </a:rPr>
            <a:t>LOW</a:t>
          </a:r>
          <a:endParaRPr lang="en-US" sz="1400" b="1" kern="1200">
            <a:solidFill>
              <a:srgbClr val="FFFFFF"/>
            </a:solidFill>
            <a:ea typeface="+mn-ea"/>
            <a:cs typeface="+mn-cs"/>
          </a:endParaRPr>
        </a:p>
      </dsp:txBody>
      <dsp:txXfrm>
        <a:off x="561592" y="72313"/>
        <a:ext cx="7539492" cy="372930"/>
      </dsp:txXfrm>
    </dsp:sp>
    <dsp:sp modelId="{A97F0DF0-E755-FA4D-A785-4D442960EE56}">
      <dsp:nvSpPr>
        <dsp:cNvPr id="0" name=""/>
        <dsp:cNvSpPr/>
      </dsp:nvSpPr>
      <dsp:spPr>
        <a:xfrm>
          <a:off x="0" y="1378918"/>
          <a:ext cx="10828346" cy="837900"/>
        </a:xfrm>
        <a:prstGeom prst="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0400" tIns="291592" rIns="840400" bIns="99568" numCol="1" spcCol="1270" anchor="t" anchorCtr="0">
          <a:noAutofit/>
        </a:bodyPr>
        <a:lstStyle/>
        <a:p>
          <a:pPr marL="114300" lvl="1" indent="-114300" algn="l" defTabSz="622300" rtl="0">
            <a:lnSpc>
              <a:spcPct val="100000"/>
            </a:lnSpc>
            <a:spcBef>
              <a:spcPct val="0"/>
            </a:spcBef>
            <a:spcAft>
              <a:spcPct val="15000"/>
            </a:spcAft>
            <a:buChar char="•"/>
          </a:pPr>
          <a:r>
            <a:rPr lang="en-US" sz="1400" kern="1200"/>
            <a:t>Powell buys in large quantities, which helps them negotiate better deals than smaller firms</a:t>
          </a:r>
          <a:endParaRPr lang="en-US" sz="1400" kern="1200">
            <a:latin typeface="Neue Haas Grotesk Text Pro"/>
            <a:ea typeface="+mn-ea"/>
            <a:cs typeface="+mn-cs"/>
          </a:endParaRPr>
        </a:p>
        <a:p>
          <a:pPr marL="114300" lvl="1" indent="-114300" algn="l" defTabSz="622300">
            <a:lnSpc>
              <a:spcPct val="90000"/>
            </a:lnSpc>
            <a:spcBef>
              <a:spcPct val="0"/>
            </a:spcBef>
            <a:spcAft>
              <a:spcPct val="15000"/>
            </a:spcAft>
            <a:buChar char="•"/>
          </a:pPr>
          <a:r>
            <a:rPr lang="en-US" sz="1400" kern="1200"/>
            <a:t>Only a few custom components give certain suppliers extra leverage, but not enough to control Powell</a:t>
          </a:r>
        </a:p>
      </dsp:txBody>
      <dsp:txXfrm>
        <a:off x="0" y="1378918"/>
        <a:ext cx="10828346" cy="837900"/>
      </dsp:txXfrm>
    </dsp:sp>
    <dsp:sp modelId="{12D4B6EB-49EF-AF44-A2AF-7CFB333C7ED7}">
      <dsp:nvSpPr>
        <dsp:cNvPr id="0" name=""/>
        <dsp:cNvSpPr/>
      </dsp:nvSpPr>
      <dsp:spPr>
        <a:xfrm>
          <a:off x="541417" y="1172278"/>
          <a:ext cx="7579842" cy="41328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6500" tIns="0" rIns="286500" bIns="0" numCol="1" spcCol="1270" anchor="ctr" anchorCtr="0">
          <a:noAutofit/>
        </a:bodyPr>
        <a:lstStyle/>
        <a:p>
          <a:pPr marL="0" lvl="0" indent="0" algn="l" defTabSz="622300">
            <a:lnSpc>
              <a:spcPct val="90000"/>
            </a:lnSpc>
            <a:spcBef>
              <a:spcPct val="0"/>
            </a:spcBef>
            <a:spcAft>
              <a:spcPct val="35000"/>
            </a:spcAft>
            <a:buNone/>
          </a:pPr>
          <a:r>
            <a:rPr lang="en-US" sz="1400" kern="1200">
              <a:solidFill>
                <a:srgbClr val="FFFFFF"/>
              </a:solidFill>
              <a:ea typeface="+mn-ea"/>
              <a:cs typeface="+mn-cs"/>
            </a:rPr>
            <a:t>Bargaining Power of Suppliers: </a:t>
          </a:r>
          <a:r>
            <a:rPr lang="en-US" sz="1400" b="1" kern="1200">
              <a:solidFill>
                <a:srgbClr val="FFFFFF"/>
              </a:solidFill>
              <a:ea typeface="+mn-ea"/>
              <a:cs typeface="+mn-cs"/>
            </a:rPr>
            <a:t>LOW-MEDIUM</a:t>
          </a:r>
        </a:p>
      </dsp:txBody>
      <dsp:txXfrm>
        <a:off x="561592" y="1192453"/>
        <a:ext cx="7539492" cy="372930"/>
      </dsp:txXfrm>
    </dsp:sp>
    <dsp:sp modelId="{8414E699-80D6-FA48-8011-984FBCBA0BE1}">
      <dsp:nvSpPr>
        <dsp:cNvPr id="0" name=""/>
        <dsp:cNvSpPr/>
      </dsp:nvSpPr>
      <dsp:spPr>
        <a:xfrm>
          <a:off x="0" y="2499058"/>
          <a:ext cx="10828346" cy="837900"/>
        </a:xfrm>
        <a:prstGeom prst="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0400" tIns="291592" rIns="840400" bIns="99568" numCol="1" spcCol="1270" anchor="t" anchorCtr="0">
          <a:noAutofit/>
        </a:bodyPr>
        <a:lstStyle/>
        <a:p>
          <a:pPr marL="114300" lvl="1" indent="-114300" algn="l" defTabSz="622300" rtl="0">
            <a:lnSpc>
              <a:spcPct val="100000"/>
            </a:lnSpc>
            <a:spcBef>
              <a:spcPct val="0"/>
            </a:spcBef>
            <a:spcAft>
              <a:spcPct val="15000"/>
            </a:spcAft>
            <a:buChar char="•"/>
          </a:pPr>
          <a:r>
            <a:rPr lang="en-US" sz="1400" kern="1200"/>
            <a:t>Big industrial clients can push for lower prices because they buy in bulk</a:t>
          </a:r>
          <a:endParaRPr lang="en-US" sz="1400" kern="1200">
            <a:latin typeface="Neue Haas Grotesk Text Pro"/>
            <a:ea typeface="+mn-ea"/>
            <a:cs typeface="+mn-cs"/>
          </a:endParaRPr>
        </a:p>
        <a:p>
          <a:pPr marL="114300" lvl="1" indent="-114300" algn="l" defTabSz="622300">
            <a:lnSpc>
              <a:spcPct val="90000"/>
            </a:lnSpc>
            <a:spcBef>
              <a:spcPct val="0"/>
            </a:spcBef>
            <a:spcAft>
              <a:spcPct val="15000"/>
            </a:spcAft>
            <a:buChar char="•"/>
          </a:pPr>
          <a:r>
            <a:rPr lang="en-US" sz="1400" kern="1200"/>
            <a:t>Powell’s custom systems are hard to replace, which keeps buyers from switching easily</a:t>
          </a:r>
        </a:p>
      </dsp:txBody>
      <dsp:txXfrm>
        <a:off x="0" y="2499058"/>
        <a:ext cx="10828346" cy="837900"/>
      </dsp:txXfrm>
    </dsp:sp>
    <dsp:sp modelId="{B2A577AF-B1C4-3C4E-80A5-85D09DFD049C}">
      <dsp:nvSpPr>
        <dsp:cNvPr id="0" name=""/>
        <dsp:cNvSpPr/>
      </dsp:nvSpPr>
      <dsp:spPr>
        <a:xfrm>
          <a:off x="541417" y="2292418"/>
          <a:ext cx="7579842" cy="41328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6500" tIns="0" rIns="286500" bIns="0" numCol="1" spcCol="1270" anchor="ctr" anchorCtr="0">
          <a:noAutofit/>
        </a:bodyPr>
        <a:lstStyle/>
        <a:p>
          <a:pPr marL="0" lvl="0" indent="0" algn="l" defTabSz="622300">
            <a:lnSpc>
              <a:spcPct val="90000"/>
            </a:lnSpc>
            <a:spcBef>
              <a:spcPct val="0"/>
            </a:spcBef>
            <a:spcAft>
              <a:spcPct val="35000"/>
            </a:spcAft>
            <a:buNone/>
          </a:pPr>
          <a:r>
            <a:rPr lang="en-US" sz="1400" kern="1200">
              <a:solidFill>
                <a:srgbClr val="FFFFFF"/>
              </a:solidFill>
              <a:ea typeface="+mn-ea"/>
              <a:cs typeface="+mn-cs"/>
            </a:rPr>
            <a:t>Bargaining Power of Buyers: </a:t>
          </a:r>
          <a:r>
            <a:rPr lang="en-US" sz="1400" b="1" kern="1200">
              <a:solidFill>
                <a:srgbClr val="FFFFFF"/>
              </a:solidFill>
              <a:ea typeface="+mn-ea"/>
              <a:cs typeface="+mn-cs"/>
            </a:rPr>
            <a:t>MEDIUM-HIGH</a:t>
          </a:r>
        </a:p>
      </dsp:txBody>
      <dsp:txXfrm>
        <a:off x="561592" y="2312593"/>
        <a:ext cx="7539492" cy="372930"/>
      </dsp:txXfrm>
    </dsp:sp>
    <dsp:sp modelId="{D5EEE58B-6D4E-1A43-9021-5FDC0B2EAF86}">
      <dsp:nvSpPr>
        <dsp:cNvPr id="0" name=""/>
        <dsp:cNvSpPr/>
      </dsp:nvSpPr>
      <dsp:spPr>
        <a:xfrm>
          <a:off x="0" y="3619198"/>
          <a:ext cx="10828346" cy="837900"/>
        </a:xfrm>
        <a:prstGeom prst="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0400" tIns="291592" rIns="840400" bIns="99568" numCol="1" spcCol="1270" anchor="t" anchorCtr="0">
          <a:noAutofit/>
        </a:bodyPr>
        <a:lstStyle/>
        <a:p>
          <a:pPr marL="114300" lvl="1" indent="-114300" algn="l" defTabSz="622300" rtl="0">
            <a:lnSpc>
              <a:spcPct val="100000"/>
            </a:lnSpc>
            <a:spcBef>
              <a:spcPct val="0"/>
            </a:spcBef>
            <a:spcAft>
              <a:spcPct val="15000"/>
            </a:spcAft>
            <a:buChar char="•"/>
          </a:pPr>
          <a:r>
            <a:rPr lang="en-US" sz="1400" kern="1200"/>
            <a:t>Powell doesn’t face many substitutes because their products are highly specialized</a:t>
          </a:r>
          <a:endParaRPr lang="en-US" sz="1400" kern="1200">
            <a:latin typeface="Neue Haas Grotesk Text Pro"/>
            <a:ea typeface="+mn-ea"/>
            <a:cs typeface="+mn-cs"/>
          </a:endParaRPr>
        </a:p>
        <a:p>
          <a:pPr marL="114300" lvl="1" indent="-114300" algn="l" defTabSz="622300">
            <a:lnSpc>
              <a:spcPct val="90000"/>
            </a:lnSpc>
            <a:spcBef>
              <a:spcPct val="0"/>
            </a:spcBef>
            <a:spcAft>
              <a:spcPct val="15000"/>
            </a:spcAft>
            <a:buChar char="•"/>
          </a:pPr>
          <a:r>
            <a:rPr lang="en-US" sz="1400" kern="1200"/>
            <a:t>Future software-based control systems could become a threat as technology keeps growing</a:t>
          </a:r>
        </a:p>
      </dsp:txBody>
      <dsp:txXfrm>
        <a:off x="0" y="3619198"/>
        <a:ext cx="10828346" cy="837900"/>
      </dsp:txXfrm>
    </dsp:sp>
    <dsp:sp modelId="{B777A3BB-B484-4B46-8DE8-375B3C3479B2}">
      <dsp:nvSpPr>
        <dsp:cNvPr id="0" name=""/>
        <dsp:cNvSpPr/>
      </dsp:nvSpPr>
      <dsp:spPr>
        <a:xfrm>
          <a:off x="541417" y="3412558"/>
          <a:ext cx="7579842" cy="41328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6500" tIns="0" rIns="286500" bIns="0" numCol="1" spcCol="1270" anchor="ctr" anchorCtr="0">
          <a:noAutofit/>
        </a:bodyPr>
        <a:lstStyle/>
        <a:p>
          <a:pPr marL="0" lvl="0" indent="0" algn="l" defTabSz="622300">
            <a:lnSpc>
              <a:spcPct val="90000"/>
            </a:lnSpc>
            <a:spcBef>
              <a:spcPct val="0"/>
            </a:spcBef>
            <a:spcAft>
              <a:spcPct val="35000"/>
            </a:spcAft>
            <a:buNone/>
          </a:pPr>
          <a:r>
            <a:rPr lang="en-US" sz="1400" kern="1200">
              <a:solidFill>
                <a:srgbClr val="FFFFFF"/>
              </a:solidFill>
              <a:ea typeface="+mn-ea"/>
              <a:cs typeface="+mn-cs"/>
            </a:rPr>
            <a:t>Threat of Substitute Products: </a:t>
          </a:r>
          <a:r>
            <a:rPr lang="en-US" sz="1400" b="1" kern="1200">
              <a:solidFill>
                <a:srgbClr val="FFFFFF"/>
              </a:solidFill>
              <a:ea typeface="+mn-ea"/>
              <a:cs typeface="+mn-cs"/>
            </a:rPr>
            <a:t>LOW-MEDIUM</a:t>
          </a:r>
        </a:p>
      </dsp:txBody>
      <dsp:txXfrm>
        <a:off x="561592" y="3432733"/>
        <a:ext cx="7539492" cy="372930"/>
      </dsp:txXfrm>
    </dsp:sp>
    <dsp:sp modelId="{A1BD5FC4-7C8D-9D46-898B-9C4591AFFBBD}">
      <dsp:nvSpPr>
        <dsp:cNvPr id="0" name=""/>
        <dsp:cNvSpPr/>
      </dsp:nvSpPr>
      <dsp:spPr>
        <a:xfrm>
          <a:off x="0" y="4739338"/>
          <a:ext cx="10828346" cy="837900"/>
        </a:xfrm>
        <a:prstGeom prst="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0400" tIns="291592" rIns="840400" bIns="99568" numCol="1" spcCol="1270" anchor="t" anchorCtr="0">
          <a:noAutofit/>
        </a:bodyPr>
        <a:lstStyle/>
        <a:p>
          <a:pPr marL="114300" lvl="1" indent="-114300" algn="l" defTabSz="622300" rtl="0">
            <a:lnSpc>
              <a:spcPct val="100000"/>
            </a:lnSpc>
            <a:spcBef>
              <a:spcPct val="0"/>
            </a:spcBef>
            <a:spcAft>
              <a:spcPct val="15000"/>
            </a:spcAft>
            <a:buChar char="•"/>
          </a:pPr>
          <a:r>
            <a:rPr lang="en-US" sz="1400" kern="1200"/>
            <a:t>The industry has major global competitors, making big project bids competitive</a:t>
          </a:r>
          <a:endParaRPr lang="en-US" sz="1400" kern="1200">
            <a:latin typeface="Neue Haas Grotesk Text Pro"/>
            <a:ea typeface="+mn-ea"/>
            <a:cs typeface="+mn-cs"/>
          </a:endParaRPr>
        </a:p>
        <a:p>
          <a:pPr marL="114300" lvl="1" indent="-114300" algn="l" defTabSz="622300">
            <a:lnSpc>
              <a:spcPct val="90000"/>
            </a:lnSpc>
            <a:spcBef>
              <a:spcPct val="0"/>
            </a:spcBef>
            <a:spcAft>
              <a:spcPct val="15000"/>
            </a:spcAft>
            <a:buChar char="•"/>
          </a:pPr>
          <a:r>
            <a:rPr lang="en-US" sz="1400" kern="1200"/>
            <a:t>Powell stands out in specialized, engineering-heavy jobs where reliability matters more than size</a:t>
          </a:r>
        </a:p>
      </dsp:txBody>
      <dsp:txXfrm>
        <a:off x="0" y="4739338"/>
        <a:ext cx="10828346" cy="837900"/>
      </dsp:txXfrm>
    </dsp:sp>
    <dsp:sp modelId="{0ABC061A-797D-9E49-93A7-2712CA900EA9}">
      <dsp:nvSpPr>
        <dsp:cNvPr id="0" name=""/>
        <dsp:cNvSpPr/>
      </dsp:nvSpPr>
      <dsp:spPr>
        <a:xfrm>
          <a:off x="541417" y="4532698"/>
          <a:ext cx="7579842" cy="413280"/>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6500" tIns="0" rIns="286500" bIns="0" numCol="1" spcCol="1270" anchor="ctr" anchorCtr="0">
          <a:noAutofit/>
        </a:bodyPr>
        <a:lstStyle/>
        <a:p>
          <a:pPr marL="0" lvl="0" indent="0" algn="l" defTabSz="622300">
            <a:lnSpc>
              <a:spcPct val="90000"/>
            </a:lnSpc>
            <a:spcBef>
              <a:spcPct val="0"/>
            </a:spcBef>
            <a:spcAft>
              <a:spcPct val="35000"/>
            </a:spcAft>
            <a:buNone/>
          </a:pPr>
          <a:r>
            <a:rPr lang="en-US" sz="1400" kern="1200">
              <a:solidFill>
                <a:srgbClr val="FFFFFF"/>
              </a:solidFill>
              <a:ea typeface="+mn-ea"/>
              <a:cs typeface="+mn-cs"/>
            </a:rPr>
            <a:t>Degree of Competitive Rivalry in the Industry:</a:t>
          </a:r>
          <a:r>
            <a:rPr lang="en-US" sz="1400" b="1" kern="1200">
              <a:solidFill>
                <a:srgbClr val="FFFFFF"/>
              </a:solidFill>
              <a:ea typeface="+mn-ea"/>
              <a:cs typeface="+mn-cs"/>
            </a:rPr>
            <a:t> MEDIUM-HIGH</a:t>
          </a:r>
        </a:p>
      </dsp:txBody>
      <dsp:txXfrm>
        <a:off x="561592" y="4552873"/>
        <a:ext cx="7539492" cy="372930"/>
      </dsp:txXfrm>
    </dsp:sp>
  </dsp:spTree>
</dsp:drawing>
</file>

<file path=ppt/diagrams/layout1.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D8D7F2-711D-B541-8A4A-B77E0DED6FD6}" type="datetimeFigureOut">
              <a:rPr lang="en-US" smtClean="0"/>
              <a:t>9/29/26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35C328-B0CB-4743-BCB3-7BD63F66E039}" type="slidenum">
              <a:rPr lang="en-US" smtClean="0"/>
              <a:t>‹#›</a:t>
            </a:fld>
            <a:endParaRPr lang="en-US"/>
          </a:p>
        </p:txBody>
      </p:sp>
    </p:spTree>
    <p:extLst>
      <p:ext uri="{BB962C8B-B14F-4D97-AF65-F5344CB8AC3E}">
        <p14:creationId xmlns:p14="http://schemas.microsoft.com/office/powerpoint/2010/main" val="3547594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Riya</a:t>
            </a:r>
          </a:p>
          <a:p>
            <a:endParaRPr lang="en-US"/>
          </a:p>
        </p:txBody>
      </p:sp>
      <p:sp>
        <p:nvSpPr>
          <p:cNvPr id="4" name="Slide Number Placeholder 3"/>
          <p:cNvSpPr>
            <a:spLocks noGrp="1"/>
          </p:cNvSpPr>
          <p:nvPr>
            <p:ph type="sldNum" sz="quarter" idx="5"/>
          </p:nvPr>
        </p:nvSpPr>
        <p:spPr/>
        <p:txBody>
          <a:bodyPr/>
          <a:lstStyle/>
          <a:p>
            <a:fld id="{9835C328-B0CB-4743-BCB3-7BD63F66E039}" type="slidenum">
              <a:rPr lang="en-US" smtClean="0"/>
              <a:t>3</a:t>
            </a:fld>
            <a:endParaRPr lang="en-US"/>
          </a:p>
        </p:txBody>
      </p:sp>
    </p:spTree>
    <p:extLst>
      <p:ext uri="{BB962C8B-B14F-4D97-AF65-F5344CB8AC3E}">
        <p14:creationId xmlns:p14="http://schemas.microsoft.com/office/powerpoint/2010/main" val="2927780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Riya</a:t>
            </a:r>
          </a:p>
        </p:txBody>
      </p:sp>
      <p:sp>
        <p:nvSpPr>
          <p:cNvPr id="4" name="Slide Number Placeholder 3"/>
          <p:cNvSpPr>
            <a:spLocks noGrp="1"/>
          </p:cNvSpPr>
          <p:nvPr>
            <p:ph type="sldNum" sz="quarter" idx="5"/>
          </p:nvPr>
        </p:nvSpPr>
        <p:spPr/>
        <p:txBody>
          <a:bodyPr/>
          <a:lstStyle/>
          <a:p>
            <a:fld id="{9835C328-B0CB-4743-BCB3-7BD63F66E039}" type="slidenum">
              <a:rPr lang="en-US" smtClean="0"/>
              <a:t>5</a:t>
            </a:fld>
            <a:endParaRPr lang="en-US"/>
          </a:p>
        </p:txBody>
      </p:sp>
    </p:spTree>
    <p:extLst>
      <p:ext uri="{BB962C8B-B14F-4D97-AF65-F5344CB8AC3E}">
        <p14:creationId xmlns:p14="http://schemas.microsoft.com/office/powerpoint/2010/main" val="41641601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Riya</a:t>
            </a:r>
          </a:p>
        </p:txBody>
      </p:sp>
      <p:sp>
        <p:nvSpPr>
          <p:cNvPr id="4" name="Slide Number Placeholder 3"/>
          <p:cNvSpPr>
            <a:spLocks noGrp="1"/>
          </p:cNvSpPr>
          <p:nvPr>
            <p:ph type="sldNum" sz="quarter" idx="5"/>
          </p:nvPr>
        </p:nvSpPr>
        <p:spPr/>
        <p:txBody>
          <a:bodyPr/>
          <a:lstStyle/>
          <a:p>
            <a:fld id="{9835C328-B0CB-4743-BCB3-7BD63F66E039}" type="slidenum">
              <a:rPr lang="en-US" smtClean="0"/>
              <a:t>7</a:t>
            </a:fld>
            <a:endParaRPr lang="en-US"/>
          </a:p>
        </p:txBody>
      </p:sp>
    </p:spTree>
    <p:extLst>
      <p:ext uri="{BB962C8B-B14F-4D97-AF65-F5344CB8AC3E}">
        <p14:creationId xmlns:p14="http://schemas.microsoft.com/office/powerpoint/2010/main" val="18523920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Samuel</a:t>
            </a:r>
          </a:p>
        </p:txBody>
      </p:sp>
      <p:sp>
        <p:nvSpPr>
          <p:cNvPr id="4" name="Slide Number Placeholder 3"/>
          <p:cNvSpPr>
            <a:spLocks noGrp="1"/>
          </p:cNvSpPr>
          <p:nvPr>
            <p:ph type="sldNum" sz="quarter" idx="5"/>
          </p:nvPr>
        </p:nvSpPr>
        <p:spPr/>
        <p:txBody>
          <a:bodyPr/>
          <a:lstStyle/>
          <a:p>
            <a:fld id="{9835C328-B0CB-4743-BCB3-7BD63F66E039}" type="slidenum">
              <a:rPr lang="en-US" smtClean="0"/>
              <a:t>9</a:t>
            </a:fld>
            <a:endParaRPr lang="en-US"/>
          </a:p>
        </p:txBody>
      </p:sp>
    </p:spTree>
    <p:extLst>
      <p:ext uri="{BB962C8B-B14F-4D97-AF65-F5344CB8AC3E}">
        <p14:creationId xmlns:p14="http://schemas.microsoft.com/office/powerpoint/2010/main" val="29554653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Eric</a:t>
            </a:r>
          </a:p>
        </p:txBody>
      </p:sp>
      <p:sp>
        <p:nvSpPr>
          <p:cNvPr id="4" name="Slide Number Placeholder 3"/>
          <p:cNvSpPr>
            <a:spLocks noGrp="1"/>
          </p:cNvSpPr>
          <p:nvPr>
            <p:ph type="sldNum" sz="quarter" idx="5"/>
          </p:nvPr>
        </p:nvSpPr>
        <p:spPr/>
        <p:txBody>
          <a:bodyPr/>
          <a:lstStyle/>
          <a:p>
            <a:fld id="{9835C328-B0CB-4743-BCB3-7BD63F66E039}" type="slidenum">
              <a:rPr lang="en-US" smtClean="0"/>
              <a:t>10</a:t>
            </a:fld>
            <a:endParaRPr lang="en-US"/>
          </a:p>
        </p:txBody>
      </p:sp>
    </p:spTree>
    <p:extLst>
      <p:ext uri="{BB962C8B-B14F-4D97-AF65-F5344CB8AC3E}">
        <p14:creationId xmlns:p14="http://schemas.microsoft.com/office/powerpoint/2010/main" val="8941136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Eric</a:t>
            </a:r>
          </a:p>
        </p:txBody>
      </p:sp>
      <p:sp>
        <p:nvSpPr>
          <p:cNvPr id="4" name="Slide Number Placeholder 3"/>
          <p:cNvSpPr>
            <a:spLocks noGrp="1"/>
          </p:cNvSpPr>
          <p:nvPr>
            <p:ph type="sldNum" sz="quarter" idx="5"/>
          </p:nvPr>
        </p:nvSpPr>
        <p:spPr/>
        <p:txBody>
          <a:bodyPr/>
          <a:lstStyle/>
          <a:p>
            <a:fld id="{9835C328-B0CB-4743-BCB3-7BD63F66E039}" type="slidenum">
              <a:rPr lang="en-US" smtClean="0"/>
              <a:t>11</a:t>
            </a:fld>
            <a:endParaRPr lang="en-US"/>
          </a:p>
        </p:txBody>
      </p:sp>
    </p:spTree>
    <p:extLst>
      <p:ext uri="{BB962C8B-B14F-4D97-AF65-F5344CB8AC3E}">
        <p14:creationId xmlns:p14="http://schemas.microsoft.com/office/powerpoint/2010/main" val="1631835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Eric</a:t>
            </a:r>
          </a:p>
        </p:txBody>
      </p:sp>
      <p:sp>
        <p:nvSpPr>
          <p:cNvPr id="4" name="Slide Number Placeholder 3"/>
          <p:cNvSpPr>
            <a:spLocks noGrp="1"/>
          </p:cNvSpPr>
          <p:nvPr>
            <p:ph type="sldNum" sz="quarter" idx="5"/>
          </p:nvPr>
        </p:nvSpPr>
        <p:spPr/>
        <p:txBody>
          <a:bodyPr/>
          <a:lstStyle/>
          <a:p>
            <a:fld id="{9835C328-B0CB-4743-BCB3-7BD63F66E039}" type="slidenum">
              <a:rPr lang="en-US" smtClean="0"/>
              <a:t>12</a:t>
            </a:fld>
            <a:endParaRPr lang="en-US"/>
          </a:p>
        </p:txBody>
      </p:sp>
    </p:spTree>
    <p:extLst>
      <p:ext uri="{BB962C8B-B14F-4D97-AF65-F5344CB8AC3E}">
        <p14:creationId xmlns:p14="http://schemas.microsoft.com/office/powerpoint/2010/main" val="3812578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Rohin</a:t>
            </a:r>
          </a:p>
          <a:p>
            <a:endParaRPr lang="en-US" dirty="0"/>
          </a:p>
          <a:p>
            <a:r>
              <a:rPr lang="en-US" dirty="0"/>
              <a:t>Debt-Equity Ratios of Other Companies in the Industry: (say if asked)</a:t>
            </a:r>
          </a:p>
          <a:p>
            <a:r>
              <a:rPr lang="en-US" dirty="0"/>
              <a:t>BIGGER COMPANIES IN INDUSTRY</a:t>
            </a:r>
          </a:p>
          <a:p>
            <a:pPr marL="171450" indent="-171450">
              <a:buFontTx/>
              <a:buChar char="-"/>
            </a:pPr>
            <a:r>
              <a:rPr lang="en-US" dirty="0"/>
              <a:t>Siemens = 0.94</a:t>
            </a:r>
          </a:p>
          <a:p>
            <a:pPr marL="171450" indent="-171450">
              <a:buFontTx/>
              <a:buChar char="-"/>
            </a:pPr>
            <a:r>
              <a:rPr lang="en-US" dirty="0"/>
              <a:t>ABB = between 0.61-0.64</a:t>
            </a:r>
          </a:p>
          <a:p>
            <a:pPr marL="0" indent="0">
              <a:buFontTx/>
              <a:buNone/>
            </a:pPr>
            <a:r>
              <a:rPr lang="en-US" dirty="0"/>
              <a:t>POWL-SIZED COMPANIES IN INDUSTRY</a:t>
            </a:r>
          </a:p>
          <a:p>
            <a:pPr marL="171450" indent="-171450">
              <a:buFontTx/>
              <a:buChar char="-"/>
            </a:pPr>
            <a:r>
              <a:rPr lang="en-US" dirty="0"/>
              <a:t>Franklin Electric Co Inc = 0.20-0.21</a:t>
            </a:r>
          </a:p>
          <a:p>
            <a:pPr marL="171450" indent="-171450">
              <a:buFontTx/>
              <a:buChar char="-"/>
            </a:pPr>
            <a:endParaRPr lang="en-US" dirty="0"/>
          </a:p>
          <a:p>
            <a:pPr marL="0" indent="0">
              <a:buFontTx/>
              <a:buNone/>
            </a:pPr>
            <a:r>
              <a:rPr lang="en-US" dirty="0"/>
              <a:t>Is being debt free common in the EE industry? No because many companies use financing for expensive equipment purchases. The EE industry relies on capital investments</a:t>
            </a:r>
          </a:p>
          <a:p>
            <a:pPr marL="171450" indent="-171450">
              <a:buFontTx/>
              <a:buChar char="-"/>
            </a:pPr>
            <a:endParaRPr lang="en-US" dirty="0"/>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9835C328-B0CB-4743-BCB3-7BD63F66E039}" type="slidenum">
              <a:rPr lang="en-US" smtClean="0"/>
              <a:t>13</a:t>
            </a:fld>
            <a:endParaRPr lang="en-US"/>
          </a:p>
        </p:txBody>
      </p:sp>
    </p:spTree>
    <p:extLst>
      <p:ext uri="{BB962C8B-B14F-4D97-AF65-F5344CB8AC3E}">
        <p14:creationId xmlns:p14="http://schemas.microsoft.com/office/powerpoint/2010/main" val="28548093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Samuel</a:t>
            </a:r>
          </a:p>
          <a:p>
            <a:endParaRPr lang="en-US" dirty="0"/>
          </a:p>
          <a:p>
            <a:r>
              <a:rPr lang="en-US" dirty="0"/>
              <a:t>Points to mention orally:</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Risk: Larger global competitors offer robust product lines and have higher R&amp;D budgets.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Mitigant: Larger companies tend to shy away from this responsibility, since it slows down production, but POWL capitalizes on this need in the market, allowing them to gain the business of people whose needs can’t be satisfied by bigger companies</a:t>
            </a:r>
          </a:p>
          <a:p>
            <a:endParaRPr lang="en-US" dirty="0"/>
          </a:p>
        </p:txBody>
      </p:sp>
      <p:sp>
        <p:nvSpPr>
          <p:cNvPr id="4" name="Slide Number Placeholder 3"/>
          <p:cNvSpPr>
            <a:spLocks noGrp="1"/>
          </p:cNvSpPr>
          <p:nvPr>
            <p:ph type="sldNum" sz="quarter" idx="5"/>
          </p:nvPr>
        </p:nvSpPr>
        <p:spPr/>
        <p:txBody>
          <a:bodyPr/>
          <a:lstStyle/>
          <a:p>
            <a:fld id="{9835C328-B0CB-4743-BCB3-7BD63F66E039}" type="slidenum">
              <a:rPr lang="en-US" smtClean="0"/>
              <a:t>15</a:t>
            </a:fld>
            <a:endParaRPr lang="en-US"/>
          </a:p>
        </p:txBody>
      </p:sp>
    </p:spTree>
    <p:extLst>
      <p:ext uri="{BB962C8B-B14F-4D97-AF65-F5344CB8AC3E}">
        <p14:creationId xmlns:p14="http://schemas.microsoft.com/office/powerpoint/2010/main" val="37871789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Rohin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Points to mention orally: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Risk: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After first bullet point (“Large industrial projects…”), add on: if macro conditions were to change, there is always a risk of customers beginning to cancel their project requests.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Move to sub bullets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After sub bullets: If a customer were to delay a project, POWL won’t be able to recognize revenue, and this can slow growth and build up inventory.</a:t>
            </a:r>
            <a:endParaRPr lang="en-US" dirty="0">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Mitigant: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After </a:t>
            </a:r>
            <a:r>
              <a:rPr lang="en-US" dirty="0" err="1"/>
              <a:t>cancelletion</a:t>
            </a:r>
            <a:r>
              <a:rPr lang="en-US" dirty="0"/>
              <a:t> </a:t>
            </a:r>
            <a:r>
              <a:rPr lang="en-US" dirty="0" err="1"/>
              <a:t>penalities</a:t>
            </a:r>
            <a:r>
              <a:rPr lang="en-US" dirty="0"/>
              <a:t> bullet, add on: include money for the work that has already been completed, the work that is in progress, and the materials acquired for the project.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After nonrefundable deposits bullet, add on: ensure that POWL is still able to collect some portion of revenue in the event of a cancellation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9835C328-B0CB-4743-BCB3-7BD63F66E039}" type="slidenum">
              <a:rPr lang="en-US" smtClean="0"/>
              <a:t>16</a:t>
            </a:fld>
            <a:endParaRPr lang="en-US"/>
          </a:p>
        </p:txBody>
      </p:sp>
    </p:spTree>
    <p:extLst>
      <p:ext uri="{BB962C8B-B14F-4D97-AF65-F5344CB8AC3E}">
        <p14:creationId xmlns:p14="http://schemas.microsoft.com/office/powerpoint/2010/main" val="30626552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Connor</a:t>
            </a:r>
          </a:p>
        </p:txBody>
      </p:sp>
      <p:sp>
        <p:nvSpPr>
          <p:cNvPr id="4" name="Slide Number Placeholder 3"/>
          <p:cNvSpPr>
            <a:spLocks noGrp="1"/>
          </p:cNvSpPr>
          <p:nvPr>
            <p:ph type="sldNum" sz="quarter" idx="5"/>
          </p:nvPr>
        </p:nvSpPr>
        <p:spPr/>
        <p:txBody>
          <a:bodyPr/>
          <a:lstStyle/>
          <a:p>
            <a:fld id="{9835C328-B0CB-4743-BCB3-7BD63F66E039}" type="slidenum">
              <a:rPr lang="en-US" smtClean="0"/>
              <a:t>18</a:t>
            </a:fld>
            <a:endParaRPr lang="en-US"/>
          </a:p>
        </p:txBody>
      </p:sp>
    </p:spTree>
    <p:extLst>
      <p:ext uri="{BB962C8B-B14F-4D97-AF65-F5344CB8AC3E}">
        <p14:creationId xmlns:p14="http://schemas.microsoft.com/office/powerpoint/2010/main" val="2985251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Samuel</a:t>
            </a:r>
          </a:p>
        </p:txBody>
      </p:sp>
      <p:sp>
        <p:nvSpPr>
          <p:cNvPr id="4" name="Slide Number Placeholder 3"/>
          <p:cNvSpPr>
            <a:spLocks noGrp="1"/>
          </p:cNvSpPr>
          <p:nvPr>
            <p:ph type="sldNum" sz="quarter" idx="5"/>
          </p:nvPr>
        </p:nvSpPr>
        <p:spPr/>
        <p:txBody>
          <a:bodyPr/>
          <a:lstStyle/>
          <a:p>
            <a:fld id="{9835C328-B0CB-4743-BCB3-7BD63F66E039}" type="slidenum">
              <a:rPr lang="en-US" smtClean="0"/>
              <a:t>19</a:t>
            </a:fld>
            <a:endParaRPr lang="en-US"/>
          </a:p>
        </p:txBody>
      </p:sp>
    </p:spTree>
    <p:extLst>
      <p:ext uri="{BB962C8B-B14F-4D97-AF65-F5344CB8AC3E}">
        <p14:creationId xmlns:p14="http://schemas.microsoft.com/office/powerpoint/2010/main" val="7730251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Connor</a:t>
            </a:r>
          </a:p>
        </p:txBody>
      </p:sp>
      <p:sp>
        <p:nvSpPr>
          <p:cNvPr id="4" name="Slide Number Placeholder 3"/>
          <p:cNvSpPr>
            <a:spLocks noGrp="1"/>
          </p:cNvSpPr>
          <p:nvPr>
            <p:ph type="sldNum" sz="quarter" idx="5"/>
          </p:nvPr>
        </p:nvSpPr>
        <p:spPr/>
        <p:txBody>
          <a:bodyPr/>
          <a:lstStyle/>
          <a:p>
            <a:fld id="{9835C328-B0CB-4743-BCB3-7BD63F66E039}" type="slidenum">
              <a:rPr lang="en-US" smtClean="0"/>
              <a:t>20</a:t>
            </a:fld>
            <a:endParaRPr lang="en-US"/>
          </a:p>
        </p:txBody>
      </p:sp>
    </p:spTree>
    <p:extLst>
      <p:ext uri="{BB962C8B-B14F-4D97-AF65-F5344CB8AC3E}">
        <p14:creationId xmlns:p14="http://schemas.microsoft.com/office/powerpoint/2010/main" val="19092908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9/29/26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88555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9/29/26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45610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9/29/26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79341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9/29/26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44591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9/29/26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18908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9/29/26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73118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9/29/26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26349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9/29/26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53530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9/29/26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091911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9/29/26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28685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9/29/26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66539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9/29/26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493839050"/>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chart" Target="../charts/char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6DA9942F-A18C-9E9D-BF08-9291C54E1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8418BD03-BE3C-48B0-D64A-2D01D6D435DA}"/>
              </a:ext>
            </a:extLst>
          </p:cNvPr>
          <p:cNvSpPr>
            <a:spLocks noGrp="1"/>
          </p:cNvSpPr>
          <p:nvPr>
            <p:ph type="subTitle" idx="1"/>
          </p:nvPr>
        </p:nvSpPr>
        <p:spPr>
          <a:xfrm>
            <a:off x="2809809" y="5853241"/>
            <a:ext cx="6572382" cy="558089"/>
          </a:xfrm>
        </p:spPr>
        <p:txBody>
          <a:bodyPr anchor="t">
            <a:normAutofit/>
          </a:bodyPr>
          <a:lstStyle/>
          <a:p>
            <a:pPr>
              <a:lnSpc>
                <a:spcPct val="110000"/>
              </a:lnSpc>
            </a:pPr>
            <a:r>
              <a:rPr lang="en-US" sz="1400" dirty="0"/>
              <a:t>Rohin Bhagat, Samuel Gankin, Riya Patibandha, Connor Tarrant, Eric Yu</a:t>
            </a:r>
            <a:endParaRPr lang="en-US" sz="1400" b="0" dirty="0">
              <a:effectLst/>
            </a:endParaRPr>
          </a:p>
        </p:txBody>
      </p:sp>
      <p:pic>
        <p:nvPicPr>
          <p:cNvPr id="5" name="Picture 4" descr="A black background with a black square&#10;&#10;AI-generated content may be incorrect.">
            <a:extLst>
              <a:ext uri="{FF2B5EF4-FFF2-40B4-BE49-F238E27FC236}">
                <a16:creationId xmlns:a16="http://schemas.microsoft.com/office/drawing/2014/main" id="{DCC336D3-65C5-A6E2-413B-262CB1EAEB81}"/>
              </a:ext>
            </a:extLst>
          </p:cNvPr>
          <p:cNvPicPr>
            <a:picLocks noChangeAspect="1"/>
          </p:cNvPicPr>
          <p:nvPr/>
        </p:nvPicPr>
        <p:blipFill>
          <a:blip r:embed="rId2"/>
          <a:stretch>
            <a:fillRect/>
          </a:stretch>
        </p:blipFill>
        <p:spPr>
          <a:xfrm>
            <a:off x="1734783" y="1963712"/>
            <a:ext cx="8722434" cy="2616728"/>
          </a:xfrm>
          <a:prstGeom prst="rect">
            <a:avLst/>
          </a:prstGeom>
        </p:spPr>
      </p:pic>
      <p:sp>
        <p:nvSpPr>
          <p:cNvPr id="8" name="Rectangle 7">
            <a:extLst>
              <a:ext uri="{FF2B5EF4-FFF2-40B4-BE49-F238E27FC236}">
                <a16:creationId xmlns:a16="http://schemas.microsoft.com/office/drawing/2014/main" id="{A89E095A-00CD-3482-3DFA-D18EAE9FC0AC}"/>
              </a:ext>
            </a:extLst>
          </p:cNvPr>
          <p:cNvSpPr/>
          <p:nvPr/>
        </p:nvSpPr>
        <p:spPr>
          <a:xfrm>
            <a:off x="0" y="0"/>
            <a:ext cx="12192000" cy="539646"/>
          </a:xfrm>
          <a:prstGeom prst="rect">
            <a:avLst/>
          </a:prstGeom>
          <a:solidFill>
            <a:srgbClr val="105A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0887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95EE659-93AE-69B7-E920-7B93C2BEE556}"/>
              </a:ext>
            </a:extLst>
          </p:cNvPr>
          <p:cNvSpPr>
            <a:spLocks noGrp="1"/>
          </p:cNvSpPr>
          <p:nvPr>
            <p:ph type="ctrTitle"/>
          </p:nvPr>
        </p:nvSpPr>
        <p:spPr>
          <a:xfrm>
            <a:off x="557135" y="2763811"/>
            <a:ext cx="11077730" cy="1330377"/>
          </a:xfrm>
        </p:spPr>
        <p:txBody>
          <a:bodyPr>
            <a:normAutofit/>
          </a:bodyPr>
          <a:lstStyle/>
          <a:p>
            <a:r>
              <a:rPr lang="en-US" sz="7200"/>
              <a:t>Company Overview</a:t>
            </a:r>
          </a:p>
        </p:txBody>
      </p:sp>
      <p:sp>
        <p:nvSpPr>
          <p:cNvPr id="6" name="Rectangle 5">
            <a:extLst>
              <a:ext uri="{FF2B5EF4-FFF2-40B4-BE49-F238E27FC236}">
                <a16:creationId xmlns:a16="http://schemas.microsoft.com/office/drawing/2014/main" id="{965EB3C2-62BE-2E3F-3A8F-D46986AC8BCF}"/>
              </a:ext>
            </a:extLst>
          </p:cNvPr>
          <p:cNvSpPr/>
          <p:nvPr/>
        </p:nvSpPr>
        <p:spPr>
          <a:xfrm>
            <a:off x="0" y="0"/>
            <a:ext cx="12192000" cy="539646"/>
          </a:xfrm>
          <a:prstGeom prst="rect">
            <a:avLst/>
          </a:prstGeom>
          <a:solidFill>
            <a:srgbClr val="105A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24E642A3-69AB-11FB-9348-889BB2E2F14D}"/>
              </a:ext>
            </a:extLst>
          </p:cNvPr>
          <p:cNvPicPr>
            <a:picLocks noChangeAspect="1"/>
          </p:cNvPicPr>
          <p:nvPr/>
        </p:nvPicPr>
        <p:blipFill>
          <a:blip r:embed="rId2"/>
          <a:stretch>
            <a:fillRect/>
          </a:stretch>
        </p:blipFill>
        <p:spPr>
          <a:xfrm>
            <a:off x="67644" y="6143431"/>
            <a:ext cx="489491" cy="571317"/>
          </a:xfrm>
          <a:prstGeom prst="rect">
            <a:avLst/>
          </a:prstGeom>
        </p:spPr>
      </p:pic>
    </p:spTree>
    <p:extLst>
      <p:ext uri="{BB962C8B-B14F-4D97-AF65-F5344CB8AC3E}">
        <p14:creationId xmlns:p14="http://schemas.microsoft.com/office/powerpoint/2010/main" val="8714076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411A8-6011-345E-56F5-22D9496CDD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4CF113-2679-C177-3A00-AD8614089E89}"/>
              </a:ext>
            </a:extLst>
          </p:cNvPr>
          <p:cNvSpPr>
            <a:spLocks noGrp="1"/>
          </p:cNvSpPr>
          <p:nvPr>
            <p:ph type="title"/>
          </p:nvPr>
        </p:nvSpPr>
        <p:spPr>
          <a:xfrm>
            <a:off x="612648" y="717970"/>
            <a:ext cx="10653578" cy="1132258"/>
          </a:xfrm>
        </p:spPr>
        <p:txBody>
          <a:bodyPr/>
          <a:lstStyle/>
          <a:p>
            <a:r>
              <a:rPr lang="en-US"/>
              <a:t>Powell Industries, Inc.</a:t>
            </a:r>
          </a:p>
        </p:txBody>
      </p:sp>
      <p:sp>
        <p:nvSpPr>
          <p:cNvPr id="4" name="Rectangle 3">
            <a:extLst>
              <a:ext uri="{FF2B5EF4-FFF2-40B4-BE49-F238E27FC236}">
                <a16:creationId xmlns:a16="http://schemas.microsoft.com/office/drawing/2014/main" id="{D3D6E06E-1EFD-14D4-2005-4FBC4B07F3DF}"/>
              </a:ext>
            </a:extLst>
          </p:cNvPr>
          <p:cNvSpPr/>
          <p:nvPr/>
        </p:nvSpPr>
        <p:spPr>
          <a:xfrm>
            <a:off x="0" y="0"/>
            <a:ext cx="12192000" cy="539646"/>
          </a:xfrm>
          <a:prstGeom prst="rect">
            <a:avLst/>
          </a:prstGeom>
          <a:solidFill>
            <a:srgbClr val="105A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B7E639D-3498-7B1F-9BAF-8A3971C548A3}"/>
              </a:ext>
            </a:extLst>
          </p:cNvPr>
          <p:cNvPicPr>
            <a:picLocks noChangeAspect="1"/>
          </p:cNvPicPr>
          <p:nvPr/>
        </p:nvPicPr>
        <p:blipFill>
          <a:blip r:embed="rId3"/>
          <a:stretch>
            <a:fillRect/>
          </a:stretch>
        </p:blipFill>
        <p:spPr>
          <a:xfrm>
            <a:off x="67644" y="6143431"/>
            <a:ext cx="489491" cy="571317"/>
          </a:xfrm>
          <a:prstGeom prst="rect">
            <a:avLst/>
          </a:prstGeom>
        </p:spPr>
      </p:pic>
      <p:sp>
        <p:nvSpPr>
          <p:cNvPr id="3" name="Content Placeholder 2">
            <a:extLst>
              <a:ext uri="{FF2B5EF4-FFF2-40B4-BE49-F238E27FC236}">
                <a16:creationId xmlns:a16="http://schemas.microsoft.com/office/drawing/2014/main" id="{82A7BA64-E410-2227-7543-8E82F3A7281C}"/>
              </a:ext>
            </a:extLst>
          </p:cNvPr>
          <p:cNvSpPr>
            <a:spLocks noGrp="1"/>
          </p:cNvSpPr>
          <p:nvPr>
            <p:ph idx="1"/>
          </p:nvPr>
        </p:nvSpPr>
        <p:spPr>
          <a:xfrm>
            <a:off x="612647" y="1388533"/>
            <a:ext cx="6550153" cy="5326215"/>
          </a:xfrm>
        </p:spPr>
        <p:txBody>
          <a:bodyPr>
            <a:normAutofit fontScale="92500" lnSpcReduction="10000"/>
          </a:bodyPr>
          <a:lstStyle/>
          <a:p>
            <a:r>
              <a:rPr lang="en-US" dirty="0"/>
              <a:t>Founded in 1947 as a metal shop to support local petrochemical operations in Texas</a:t>
            </a:r>
          </a:p>
          <a:p>
            <a:r>
              <a:rPr lang="en-US" dirty="0"/>
              <a:t>Now a </a:t>
            </a:r>
            <a:r>
              <a:rPr lang="en-US" dirty="0">
                <a:sym typeface="Wingdings" pitchFamily="2" charset="2"/>
              </a:rPr>
              <a:t>global operation serving many market segments</a:t>
            </a:r>
          </a:p>
          <a:p>
            <a:r>
              <a:rPr lang="en-US" dirty="0">
                <a:sym typeface="Wingdings" pitchFamily="2" charset="2"/>
              </a:rPr>
              <a:t>Known to provide complex and integrated systems for electrical energy distribution</a:t>
            </a:r>
          </a:p>
          <a:p>
            <a:pPr lvl="1"/>
            <a:r>
              <a:rPr lang="en-US" dirty="0">
                <a:sym typeface="Wingdings" pitchFamily="2" charset="2"/>
              </a:rPr>
              <a:t>Designs and manufactured custom-engineered electrical equipment</a:t>
            </a:r>
          </a:p>
          <a:p>
            <a:r>
              <a:rPr lang="en-US" dirty="0">
                <a:sym typeface="Wingdings" pitchFamily="2" charset="2"/>
              </a:rPr>
              <a:t>Brett Alan Cope: Chairman, President, and CEO</a:t>
            </a:r>
          </a:p>
          <a:p>
            <a:r>
              <a:rPr lang="en-US" dirty="0">
                <a:sym typeface="Wingdings" pitchFamily="2" charset="2"/>
              </a:rPr>
              <a:t>Products and services include substations, switchgears, monitor control centers, and integrated power systems (B2B model)</a:t>
            </a:r>
          </a:p>
          <a:p>
            <a:r>
              <a:rPr lang="en-US" u="sng" dirty="0">
                <a:sym typeface="Wingdings" pitchFamily="2" charset="2"/>
              </a:rPr>
              <a:t>FY24 Revenue: </a:t>
            </a:r>
            <a:r>
              <a:rPr lang="en-US" b="1" dirty="0">
                <a:sym typeface="Wingdings" pitchFamily="2" charset="2"/>
              </a:rPr>
              <a:t>$1.012 billion</a:t>
            </a:r>
            <a:r>
              <a:rPr lang="en-US" dirty="0">
                <a:sym typeface="Wingdings" pitchFamily="2" charset="2"/>
              </a:rPr>
              <a:t>; 45% increase from FY23</a:t>
            </a:r>
          </a:p>
          <a:p>
            <a:r>
              <a:rPr lang="en-US" u="sng" dirty="0">
                <a:sym typeface="Wingdings" pitchFamily="2" charset="2"/>
              </a:rPr>
              <a:t>Market Cap: </a:t>
            </a:r>
            <a:r>
              <a:rPr lang="en-US" b="1" dirty="0">
                <a:sym typeface="Wingdings" pitchFamily="2" charset="2"/>
              </a:rPr>
              <a:t>$3.89 billion</a:t>
            </a:r>
          </a:p>
          <a:p>
            <a:endParaRPr lang="en-US" dirty="0"/>
          </a:p>
        </p:txBody>
      </p:sp>
      <p:graphicFrame>
        <p:nvGraphicFramePr>
          <p:cNvPr id="7" name="Chart 6">
            <a:extLst>
              <a:ext uri="{FF2B5EF4-FFF2-40B4-BE49-F238E27FC236}">
                <a16:creationId xmlns:a16="http://schemas.microsoft.com/office/drawing/2014/main" id="{6DE5350C-976B-881A-5FF8-95093A1911AC}"/>
              </a:ext>
            </a:extLst>
          </p:cNvPr>
          <p:cNvGraphicFramePr>
            <a:graphicFrameLocks/>
          </p:cNvGraphicFramePr>
          <p:nvPr>
            <p:extLst>
              <p:ext uri="{D42A27DB-BD31-4B8C-83A1-F6EECF244321}">
                <p14:modId xmlns:p14="http://schemas.microsoft.com/office/powerpoint/2010/main" val="880371882"/>
              </p:ext>
            </p:extLst>
          </p:nvPr>
        </p:nvGraphicFramePr>
        <p:xfrm>
          <a:off x="7218311" y="3672767"/>
          <a:ext cx="4897431" cy="3041981"/>
        </p:xfrm>
        <a:graphic>
          <a:graphicData uri="http://schemas.openxmlformats.org/drawingml/2006/chart">
            <c:chart xmlns:c="http://schemas.openxmlformats.org/drawingml/2006/chart" xmlns:r="http://schemas.openxmlformats.org/officeDocument/2006/relationships" r:id="rId4"/>
          </a:graphicData>
        </a:graphic>
      </p:graphicFrame>
      <p:pic>
        <p:nvPicPr>
          <p:cNvPr id="9" name="Picture 8">
            <a:extLst>
              <a:ext uri="{FF2B5EF4-FFF2-40B4-BE49-F238E27FC236}">
                <a16:creationId xmlns:a16="http://schemas.microsoft.com/office/drawing/2014/main" id="{65C2D032-8E63-4D2F-F206-8E3EE44900A8}"/>
              </a:ext>
            </a:extLst>
          </p:cNvPr>
          <p:cNvPicPr>
            <a:picLocks noChangeAspect="1"/>
          </p:cNvPicPr>
          <p:nvPr/>
        </p:nvPicPr>
        <p:blipFill>
          <a:blip r:embed="rId5"/>
          <a:stretch>
            <a:fillRect/>
          </a:stretch>
        </p:blipFill>
        <p:spPr>
          <a:xfrm>
            <a:off x="7446632" y="1039433"/>
            <a:ext cx="4477779" cy="2514615"/>
          </a:xfrm>
          <a:prstGeom prst="rect">
            <a:avLst/>
          </a:prstGeom>
        </p:spPr>
      </p:pic>
    </p:spTree>
    <p:extLst>
      <p:ext uri="{BB962C8B-B14F-4D97-AF65-F5344CB8AC3E}">
        <p14:creationId xmlns:p14="http://schemas.microsoft.com/office/powerpoint/2010/main" val="1050135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2FC90-F189-C709-0D3A-FEC5683C388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A9F6361-7A3D-5817-8AC7-DC8E8171D4F7}"/>
              </a:ext>
            </a:extLst>
          </p:cNvPr>
          <p:cNvSpPr>
            <a:spLocks noGrp="1"/>
          </p:cNvSpPr>
          <p:nvPr>
            <p:ph type="ctrTitle"/>
          </p:nvPr>
        </p:nvSpPr>
        <p:spPr>
          <a:xfrm>
            <a:off x="557135" y="2763811"/>
            <a:ext cx="11077730" cy="1330377"/>
          </a:xfrm>
        </p:spPr>
        <p:txBody>
          <a:bodyPr>
            <a:normAutofit/>
          </a:bodyPr>
          <a:lstStyle/>
          <a:p>
            <a:r>
              <a:rPr lang="en-US" sz="7200"/>
              <a:t>SWOT Analysis</a:t>
            </a:r>
          </a:p>
        </p:txBody>
      </p:sp>
      <p:sp>
        <p:nvSpPr>
          <p:cNvPr id="6" name="Rectangle 5">
            <a:extLst>
              <a:ext uri="{FF2B5EF4-FFF2-40B4-BE49-F238E27FC236}">
                <a16:creationId xmlns:a16="http://schemas.microsoft.com/office/drawing/2014/main" id="{81FA5D6E-D1FF-BB3B-DAA7-0EA92F587C45}"/>
              </a:ext>
            </a:extLst>
          </p:cNvPr>
          <p:cNvSpPr/>
          <p:nvPr/>
        </p:nvSpPr>
        <p:spPr>
          <a:xfrm>
            <a:off x="0" y="0"/>
            <a:ext cx="12192000" cy="539646"/>
          </a:xfrm>
          <a:prstGeom prst="rect">
            <a:avLst/>
          </a:prstGeom>
          <a:solidFill>
            <a:srgbClr val="105A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A6E07535-FDE7-3E71-1727-1D6652096223}"/>
              </a:ext>
            </a:extLst>
          </p:cNvPr>
          <p:cNvPicPr>
            <a:picLocks noChangeAspect="1"/>
          </p:cNvPicPr>
          <p:nvPr/>
        </p:nvPicPr>
        <p:blipFill>
          <a:blip r:embed="rId2"/>
          <a:stretch>
            <a:fillRect/>
          </a:stretch>
        </p:blipFill>
        <p:spPr>
          <a:xfrm>
            <a:off x="67644" y="6143431"/>
            <a:ext cx="489491" cy="571317"/>
          </a:xfrm>
          <a:prstGeom prst="rect">
            <a:avLst/>
          </a:prstGeom>
        </p:spPr>
      </p:pic>
    </p:spTree>
    <p:extLst>
      <p:ext uri="{BB962C8B-B14F-4D97-AF65-F5344CB8AC3E}">
        <p14:creationId xmlns:p14="http://schemas.microsoft.com/office/powerpoint/2010/main" val="2511804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8E6DB-5EDB-923A-A2DC-65D53817417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8D35B04-C186-2295-3E49-6F5A7B8E1EED}"/>
              </a:ext>
            </a:extLst>
          </p:cNvPr>
          <p:cNvSpPr/>
          <p:nvPr/>
        </p:nvSpPr>
        <p:spPr>
          <a:xfrm>
            <a:off x="0" y="0"/>
            <a:ext cx="12192000" cy="539646"/>
          </a:xfrm>
          <a:prstGeom prst="rect">
            <a:avLst/>
          </a:prstGeom>
          <a:solidFill>
            <a:srgbClr val="105A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26F2BBA-C89A-2D54-46A6-71E1FA3FC350}"/>
              </a:ext>
            </a:extLst>
          </p:cNvPr>
          <p:cNvPicPr>
            <a:picLocks noChangeAspect="1"/>
          </p:cNvPicPr>
          <p:nvPr/>
        </p:nvPicPr>
        <p:blipFill>
          <a:blip r:embed="rId3"/>
          <a:stretch>
            <a:fillRect/>
          </a:stretch>
        </p:blipFill>
        <p:spPr>
          <a:xfrm>
            <a:off x="67644" y="6143431"/>
            <a:ext cx="489491" cy="571317"/>
          </a:xfrm>
          <a:prstGeom prst="rect">
            <a:avLst/>
          </a:prstGeom>
        </p:spPr>
      </p:pic>
      <p:graphicFrame>
        <p:nvGraphicFramePr>
          <p:cNvPr id="3" name="Diagram 2">
            <a:extLst>
              <a:ext uri="{FF2B5EF4-FFF2-40B4-BE49-F238E27FC236}">
                <a16:creationId xmlns:a16="http://schemas.microsoft.com/office/drawing/2014/main" id="{ECC84595-4D1A-339C-F2B5-10106DA2ACBF}"/>
              </a:ext>
            </a:extLst>
          </p:cNvPr>
          <p:cNvGraphicFramePr/>
          <p:nvPr>
            <p:extLst>
              <p:ext uri="{D42A27DB-BD31-4B8C-83A1-F6EECF244321}">
                <p14:modId xmlns:p14="http://schemas.microsoft.com/office/powerpoint/2010/main" val="1514339900"/>
              </p:ext>
            </p:extLst>
          </p:nvPr>
        </p:nvGraphicFramePr>
        <p:xfrm>
          <a:off x="1648918" y="719666"/>
          <a:ext cx="8511082" cy="574109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Arc 7">
            <a:extLst>
              <a:ext uri="{FF2B5EF4-FFF2-40B4-BE49-F238E27FC236}">
                <a16:creationId xmlns:a16="http://schemas.microsoft.com/office/drawing/2014/main" id="{C49C7964-E20A-87B6-BDA8-93E7CB82C573}"/>
              </a:ext>
            </a:extLst>
          </p:cNvPr>
          <p:cNvSpPr/>
          <p:nvPr/>
        </p:nvSpPr>
        <p:spPr>
          <a:xfrm rot="-5400000">
            <a:off x="5303993" y="3151726"/>
            <a:ext cx="858293" cy="746342"/>
          </a:xfrm>
          <a:prstGeom prst="arc">
            <a:avLst/>
          </a:prstGeom>
          <a:solidFill>
            <a:schemeClr val="accent6"/>
          </a:solidFill>
          <a:ln>
            <a:noFill/>
          </a:ln>
        </p:spPr>
        <p:style>
          <a:lnRef idx="2">
            <a:schemeClr val="lt1">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9" name="Arc 8">
            <a:extLst>
              <a:ext uri="{FF2B5EF4-FFF2-40B4-BE49-F238E27FC236}">
                <a16:creationId xmlns:a16="http://schemas.microsoft.com/office/drawing/2014/main" id="{FA5B4A3A-EF91-DA61-FB03-C98B363AE122}"/>
              </a:ext>
            </a:extLst>
          </p:cNvPr>
          <p:cNvSpPr/>
          <p:nvPr/>
        </p:nvSpPr>
        <p:spPr>
          <a:xfrm rot="-16200000">
            <a:off x="5643096" y="3335763"/>
            <a:ext cx="858293" cy="746342"/>
          </a:xfrm>
          <a:prstGeom prst="arc">
            <a:avLst/>
          </a:prstGeom>
          <a:solidFill>
            <a:schemeClr val="accent6"/>
          </a:solidFill>
          <a:ln>
            <a:noFill/>
          </a:ln>
        </p:spPr>
        <p:style>
          <a:lnRef idx="2">
            <a:schemeClr val="lt1">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dk1">
              <a:hueOff val="0"/>
              <a:satOff val="0"/>
              <a:lumOff val="0"/>
              <a:alphaOff val="0"/>
            </a:schemeClr>
          </a:fontRef>
        </p:style>
        <p:txBody>
          <a:bodyPr/>
          <a:lstStyle/>
          <a:p>
            <a:endParaRPr lang="en-US"/>
          </a:p>
        </p:txBody>
      </p:sp>
      <p:pic>
        <p:nvPicPr>
          <p:cNvPr id="10" name="Picture 9">
            <a:extLst>
              <a:ext uri="{FF2B5EF4-FFF2-40B4-BE49-F238E27FC236}">
                <a16:creationId xmlns:a16="http://schemas.microsoft.com/office/drawing/2014/main" id="{42C1B666-7741-02A8-4F56-3E63ECFF3711}"/>
              </a:ext>
            </a:extLst>
          </p:cNvPr>
          <p:cNvPicPr>
            <a:picLocks noChangeAspect="1"/>
          </p:cNvPicPr>
          <p:nvPr/>
        </p:nvPicPr>
        <p:blipFill>
          <a:blip r:embed="rId3"/>
          <a:stretch>
            <a:fillRect/>
          </a:stretch>
        </p:blipFill>
        <p:spPr>
          <a:xfrm>
            <a:off x="5462022" y="3053130"/>
            <a:ext cx="884873" cy="1032793"/>
          </a:xfrm>
          <a:prstGeom prst="rect">
            <a:avLst/>
          </a:prstGeom>
        </p:spPr>
      </p:pic>
    </p:spTree>
    <p:extLst>
      <p:ext uri="{BB962C8B-B14F-4D97-AF65-F5344CB8AC3E}">
        <p14:creationId xmlns:p14="http://schemas.microsoft.com/office/powerpoint/2010/main" val="2390657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5CD6A-A604-B769-713B-E7D7A2F01CD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217B8D8-E621-69E8-9A4E-5A2FFF04C909}"/>
              </a:ext>
            </a:extLst>
          </p:cNvPr>
          <p:cNvSpPr>
            <a:spLocks noGrp="1"/>
          </p:cNvSpPr>
          <p:nvPr>
            <p:ph type="ctrTitle"/>
          </p:nvPr>
        </p:nvSpPr>
        <p:spPr>
          <a:xfrm>
            <a:off x="557135" y="2763811"/>
            <a:ext cx="11077730" cy="1330377"/>
          </a:xfrm>
        </p:spPr>
        <p:txBody>
          <a:bodyPr>
            <a:normAutofit/>
          </a:bodyPr>
          <a:lstStyle/>
          <a:p>
            <a:r>
              <a:rPr lang="en-US" sz="7200"/>
              <a:t>Industry Overview</a:t>
            </a:r>
          </a:p>
        </p:txBody>
      </p:sp>
      <p:sp>
        <p:nvSpPr>
          <p:cNvPr id="6" name="Rectangle 5">
            <a:extLst>
              <a:ext uri="{FF2B5EF4-FFF2-40B4-BE49-F238E27FC236}">
                <a16:creationId xmlns:a16="http://schemas.microsoft.com/office/drawing/2014/main" id="{F16E8701-A227-C3FF-AD5C-984658178B98}"/>
              </a:ext>
            </a:extLst>
          </p:cNvPr>
          <p:cNvSpPr/>
          <p:nvPr/>
        </p:nvSpPr>
        <p:spPr>
          <a:xfrm>
            <a:off x="0" y="0"/>
            <a:ext cx="12192000" cy="539646"/>
          </a:xfrm>
          <a:prstGeom prst="rect">
            <a:avLst/>
          </a:prstGeom>
          <a:solidFill>
            <a:srgbClr val="105A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2AB08A2C-81A0-7A9B-CE47-2240A2E41A1C}"/>
              </a:ext>
            </a:extLst>
          </p:cNvPr>
          <p:cNvPicPr>
            <a:picLocks noChangeAspect="1"/>
          </p:cNvPicPr>
          <p:nvPr/>
        </p:nvPicPr>
        <p:blipFill>
          <a:blip r:embed="rId2"/>
          <a:stretch>
            <a:fillRect/>
          </a:stretch>
        </p:blipFill>
        <p:spPr>
          <a:xfrm>
            <a:off x="67644" y="6143431"/>
            <a:ext cx="489491" cy="571317"/>
          </a:xfrm>
          <a:prstGeom prst="rect">
            <a:avLst/>
          </a:prstGeom>
        </p:spPr>
      </p:pic>
    </p:spTree>
    <p:extLst>
      <p:ext uri="{BB962C8B-B14F-4D97-AF65-F5344CB8AC3E}">
        <p14:creationId xmlns:p14="http://schemas.microsoft.com/office/powerpoint/2010/main" val="3726633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33D72-E329-7011-6E8A-DE279FF74733}"/>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A32C131E-D06A-9BEA-21D3-4CBB85FA646F}"/>
              </a:ext>
            </a:extLst>
          </p:cNvPr>
          <p:cNvPicPr>
            <a:picLocks noChangeAspect="1"/>
          </p:cNvPicPr>
          <p:nvPr/>
        </p:nvPicPr>
        <p:blipFill>
          <a:blip r:embed="rId3"/>
          <a:srcRect l="8" r="3076" b="6008"/>
          <a:stretch>
            <a:fillRect/>
          </a:stretch>
        </p:blipFill>
        <p:spPr>
          <a:xfrm>
            <a:off x="7323328" y="1253001"/>
            <a:ext cx="4023360" cy="2926080"/>
          </a:xfrm>
          <a:prstGeom prst="rect">
            <a:avLst/>
          </a:prstGeom>
        </p:spPr>
      </p:pic>
      <p:sp>
        <p:nvSpPr>
          <p:cNvPr id="2" name="Title 1">
            <a:extLst>
              <a:ext uri="{FF2B5EF4-FFF2-40B4-BE49-F238E27FC236}">
                <a16:creationId xmlns:a16="http://schemas.microsoft.com/office/drawing/2014/main" id="{460937B4-9268-354F-918D-C71964D0CA25}"/>
              </a:ext>
            </a:extLst>
          </p:cNvPr>
          <p:cNvSpPr>
            <a:spLocks noGrp="1"/>
          </p:cNvSpPr>
          <p:nvPr>
            <p:ph type="title"/>
          </p:nvPr>
        </p:nvSpPr>
        <p:spPr>
          <a:xfrm>
            <a:off x="612648" y="701039"/>
            <a:ext cx="10653578" cy="1132258"/>
          </a:xfrm>
        </p:spPr>
        <p:txBody>
          <a:bodyPr/>
          <a:lstStyle/>
          <a:p>
            <a:r>
              <a:rPr lang="en-US"/>
              <a:t>Industry Overview: Electrical Equipment</a:t>
            </a:r>
          </a:p>
        </p:txBody>
      </p:sp>
      <p:sp>
        <p:nvSpPr>
          <p:cNvPr id="4" name="Rectangle 3">
            <a:extLst>
              <a:ext uri="{FF2B5EF4-FFF2-40B4-BE49-F238E27FC236}">
                <a16:creationId xmlns:a16="http://schemas.microsoft.com/office/drawing/2014/main" id="{98F6B953-95E7-66C9-71F9-379BD3F555D4}"/>
              </a:ext>
            </a:extLst>
          </p:cNvPr>
          <p:cNvSpPr/>
          <p:nvPr/>
        </p:nvSpPr>
        <p:spPr>
          <a:xfrm>
            <a:off x="0" y="0"/>
            <a:ext cx="12192000" cy="539646"/>
          </a:xfrm>
          <a:prstGeom prst="rect">
            <a:avLst/>
          </a:prstGeom>
          <a:solidFill>
            <a:srgbClr val="105A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16EA30A-0640-16F9-930B-DA95D1C034E5}"/>
              </a:ext>
            </a:extLst>
          </p:cNvPr>
          <p:cNvPicPr>
            <a:picLocks noChangeAspect="1"/>
          </p:cNvPicPr>
          <p:nvPr/>
        </p:nvPicPr>
        <p:blipFill>
          <a:blip r:embed="rId4"/>
          <a:stretch>
            <a:fillRect/>
          </a:stretch>
        </p:blipFill>
        <p:spPr>
          <a:xfrm>
            <a:off x="67644" y="6143431"/>
            <a:ext cx="489491" cy="571317"/>
          </a:xfrm>
          <a:prstGeom prst="rect">
            <a:avLst/>
          </a:prstGeom>
        </p:spPr>
      </p:pic>
      <p:sp>
        <p:nvSpPr>
          <p:cNvPr id="3" name="Content Placeholder 2">
            <a:extLst>
              <a:ext uri="{FF2B5EF4-FFF2-40B4-BE49-F238E27FC236}">
                <a16:creationId xmlns:a16="http://schemas.microsoft.com/office/drawing/2014/main" id="{80B53D0F-DA06-6EEA-6913-27DD3641AB99}"/>
              </a:ext>
            </a:extLst>
          </p:cNvPr>
          <p:cNvSpPr>
            <a:spLocks noGrp="1"/>
          </p:cNvSpPr>
          <p:nvPr>
            <p:ph idx="1"/>
          </p:nvPr>
        </p:nvSpPr>
        <p:spPr>
          <a:xfrm>
            <a:off x="612647" y="1715532"/>
            <a:ext cx="6143753" cy="4593828"/>
          </a:xfrm>
        </p:spPr>
        <p:txBody>
          <a:bodyPr>
            <a:normAutofit/>
          </a:bodyPr>
          <a:lstStyle/>
          <a:p>
            <a:r>
              <a:rPr lang="en-US"/>
              <a:t>Well-established electrical and industrial companies (Siemens, Eaton, and ABB) take up majority of the market share</a:t>
            </a:r>
          </a:p>
          <a:p>
            <a:r>
              <a:rPr lang="en-US"/>
              <a:t>Moderate level of competition; expected to increase</a:t>
            </a:r>
          </a:p>
          <a:p>
            <a:r>
              <a:rPr lang="en-US"/>
              <a:t>Market Size (2024): </a:t>
            </a:r>
            <a:r>
              <a:rPr lang="en-US" b="1"/>
              <a:t>$1,513.22 billion </a:t>
            </a:r>
          </a:p>
          <a:p>
            <a:pPr lvl="1"/>
            <a:r>
              <a:rPr lang="en-US" i="1"/>
              <a:t>Forecasts for 2032: $3,326.86 billion</a:t>
            </a:r>
          </a:p>
          <a:p>
            <a:r>
              <a:rPr lang="en-US"/>
              <a:t>Moderate level of growth while battling persistent volatility</a:t>
            </a:r>
          </a:p>
          <a:p>
            <a:pPr lvl="1"/>
            <a:r>
              <a:rPr lang="en-US"/>
              <a:t>Trade policies, unpredictable raw material costs, and rising interest rates</a:t>
            </a:r>
          </a:p>
          <a:p>
            <a:pPr lvl="1"/>
            <a:endParaRPr lang="en-US"/>
          </a:p>
        </p:txBody>
      </p:sp>
      <p:graphicFrame>
        <p:nvGraphicFramePr>
          <p:cNvPr id="8" name="Chart 7">
            <a:extLst>
              <a:ext uri="{FF2B5EF4-FFF2-40B4-BE49-F238E27FC236}">
                <a16:creationId xmlns:a16="http://schemas.microsoft.com/office/drawing/2014/main" id="{DA87CAD2-5C50-65DF-4C3E-F3895AC192E2}"/>
              </a:ext>
            </a:extLst>
          </p:cNvPr>
          <p:cNvGraphicFramePr>
            <a:graphicFrameLocks/>
          </p:cNvGraphicFramePr>
          <p:nvPr>
            <p:extLst>
              <p:ext uri="{D42A27DB-BD31-4B8C-83A1-F6EECF244321}">
                <p14:modId xmlns:p14="http://schemas.microsoft.com/office/powerpoint/2010/main" val="1447006154"/>
              </p:ext>
            </p:extLst>
          </p:nvPr>
        </p:nvGraphicFramePr>
        <p:xfrm>
          <a:off x="7049008" y="4157815"/>
          <a:ext cx="4572000" cy="2743200"/>
        </p:xfrm>
        <a:graphic>
          <a:graphicData uri="http://schemas.openxmlformats.org/drawingml/2006/chart">
            <c:chart xmlns:c="http://schemas.openxmlformats.org/drawingml/2006/chart" xmlns:r="http://schemas.openxmlformats.org/officeDocument/2006/relationships" r:id="rId5"/>
          </a:graphicData>
        </a:graphic>
      </p:graphicFrame>
      <p:sp>
        <p:nvSpPr>
          <p:cNvPr id="10" name="5-Point Star 9">
            <a:extLst>
              <a:ext uri="{FF2B5EF4-FFF2-40B4-BE49-F238E27FC236}">
                <a16:creationId xmlns:a16="http://schemas.microsoft.com/office/drawing/2014/main" id="{3904D40C-64BB-66AF-B641-81F5AC929233}"/>
              </a:ext>
            </a:extLst>
          </p:cNvPr>
          <p:cNvSpPr/>
          <p:nvPr/>
        </p:nvSpPr>
        <p:spPr>
          <a:xfrm>
            <a:off x="10993120" y="5257800"/>
            <a:ext cx="227386" cy="193666"/>
          </a:xfrm>
          <a:prstGeom prst="star5">
            <a:avLst/>
          </a:prstGeom>
          <a:solidFill>
            <a:srgbClr val="105A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4430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F8FEB-D75D-E411-3460-AEEBE88440E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E114D39-3A83-4408-B686-EFE85D5D45B6}"/>
              </a:ext>
            </a:extLst>
          </p:cNvPr>
          <p:cNvSpPr>
            <a:spLocks noGrp="1"/>
          </p:cNvSpPr>
          <p:nvPr>
            <p:ph type="ctrTitle"/>
          </p:nvPr>
        </p:nvSpPr>
        <p:spPr>
          <a:xfrm>
            <a:off x="557135" y="3004590"/>
            <a:ext cx="11077730" cy="848819"/>
          </a:xfrm>
        </p:spPr>
        <p:txBody>
          <a:bodyPr>
            <a:normAutofit fontScale="90000"/>
          </a:bodyPr>
          <a:lstStyle/>
          <a:p>
            <a:r>
              <a:rPr lang="en-US" sz="7200"/>
              <a:t>Porter’s Five Forces</a:t>
            </a:r>
          </a:p>
        </p:txBody>
      </p:sp>
      <p:sp>
        <p:nvSpPr>
          <p:cNvPr id="6" name="Rectangle 5">
            <a:extLst>
              <a:ext uri="{FF2B5EF4-FFF2-40B4-BE49-F238E27FC236}">
                <a16:creationId xmlns:a16="http://schemas.microsoft.com/office/drawing/2014/main" id="{534771B4-D891-2195-2706-D2BCDF674D98}"/>
              </a:ext>
            </a:extLst>
          </p:cNvPr>
          <p:cNvSpPr/>
          <p:nvPr/>
        </p:nvSpPr>
        <p:spPr>
          <a:xfrm>
            <a:off x="0" y="0"/>
            <a:ext cx="12192000" cy="539646"/>
          </a:xfrm>
          <a:prstGeom prst="rect">
            <a:avLst/>
          </a:prstGeom>
          <a:solidFill>
            <a:srgbClr val="105A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6F4604EA-3816-2FBB-DD69-10268768DC11}"/>
              </a:ext>
            </a:extLst>
          </p:cNvPr>
          <p:cNvPicPr>
            <a:picLocks noChangeAspect="1"/>
          </p:cNvPicPr>
          <p:nvPr/>
        </p:nvPicPr>
        <p:blipFill>
          <a:blip r:embed="rId2"/>
          <a:stretch>
            <a:fillRect/>
          </a:stretch>
        </p:blipFill>
        <p:spPr>
          <a:xfrm>
            <a:off x="67644" y="6143431"/>
            <a:ext cx="489491" cy="571317"/>
          </a:xfrm>
          <a:prstGeom prst="rect">
            <a:avLst/>
          </a:prstGeom>
        </p:spPr>
      </p:pic>
    </p:spTree>
    <p:extLst>
      <p:ext uri="{BB962C8B-B14F-4D97-AF65-F5344CB8AC3E}">
        <p14:creationId xmlns:p14="http://schemas.microsoft.com/office/powerpoint/2010/main" val="611696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AAE97-5663-62B6-00E7-703ECEDC74B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AEF3E32-F686-89D5-4CA3-C1A47784861D}"/>
              </a:ext>
            </a:extLst>
          </p:cNvPr>
          <p:cNvSpPr/>
          <p:nvPr/>
        </p:nvSpPr>
        <p:spPr>
          <a:xfrm>
            <a:off x="0" y="0"/>
            <a:ext cx="12192000" cy="539646"/>
          </a:xfrm>
          <a:prstGeom prst="rect">
            <a:avLst/>
          </a:prstGeom>
          <a:solidFill>
            <a:srgbClr val="105A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9BE4D49-927B-3522-3596-91550C50FAD6}"/>
              </a:ext>
            </a:extLst>
          </p:cNvPr>
          <p:cNvPicPr>
            <a:picLocks noChangeAspect="1"/>
          </p:cNvPicPr>
          <p:nvPr/>
        </p:nvPicPr>
        <p:blipFill>
          <a:blip r:embed="rId3"/>
          <a:stretch>
            <a:fillRect/>
          </a:stretch>
        </p:blipFill>
        <p:spPr>
          <a:xfrm>
            <a:off x="67644" y="6143431"/>
            <a:ext cx="489491" cy="571317"/>
          </a:xfrm>
          <a:prstGeom prst="rect">
            <a:avLst/>
          </a:prstGeom>
        </p:spPr>
      </p:pic>
      <p:graphicFrame>
        <p:nvGraphicFramePr>
          <p:cNvPr id="8" name="Diagram 7">
            <a:extLst>
              <a:ext uri="{FF2B5EF4-FFF2-40B4-BE49-F238E27FC236}">
                <a16:creationId xmlns:a16="http://schemas.microsoft.com/office/drawing/2014/main" id="{CDAA4631-7A6E-9390-34FC-6F7CF23DCB82}"/>
              </a:ext>
            </a:extLst>
          </p:cNvPr>
          <p:cNvGraphicFramePr/>
          <p:nvPr>
            <p:extLst>
              <p:ext uri="{D42A27DB-BD31-4B8C-83A1-F6EECF244321}">
                <p14:modId xmlns:p14="http://schemas.microsoft.com/office/powerpoint/2010/main" val="3409051919"/>
              </p:ext>
            </p:extLst>
          </p:nvPr>
        </p:nvGraphicFramePr>
        <p:xfrm>
          <a:off x="681827" y="799712"/>
          <a:ext cx="10828346" cy="562937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105642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506E4-C881-D14A-AD10-5CF17927269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CF24B71-DE5D-7212-124B-A1AEF6FFBE4F}"/>
              </a:ext>
            </a:extLst>
          </p:cNvPr>
          <p:cNvSpPr>
            <a:spLocks noGrp="1"/>
          </p:cNvSpPr>
          <p:nvPr>
            <p:ph type="ctrTitle"/>
          </p:nvPr>
        </p:nvSpPr>
        <p:spPr>
          <a:xfrm>
            <a:off x="557135" y="2321387"/>
            <a:ext cx="11077730" cy="848819"/>
          </a:xfrm>
        </p:spPr>
        <p:txBody>
          <a:bodyPr>
            <a:normAutofit fontScale="90000"/>
          </a:bodyPr>
          <a:lstStyle/>
          <a:p>
            <a:r>
              <a:rPr lang="en-US" sz="7200"/>
              <a:t>Investment Thesis</a:t>
            </a:r>
          </a:p>
        </p:txBody>
      </p:sp>
      <p:sp>
        <p:nvSpPr>
          <p:cNvPr id="6" name="Rectangle 5">
            <a:extLst>
              <a:ext uri="{FF2B5EF4-FFF2-40B4-BE49-F238E27FC236}">
                <a16:creationId xmlns:a16="http://schemas.microsoft.com/office/drawing/2014/main" id="{F8999055-13B6-BD9D-702D-30E1BE594296}"/>
              </a:ext>
            </a:extLst>
          </p:cNvPr>
          <p:cNvSpPr/>
          <p:nvPr/>
        </p:nvSpPr>
        <p:spPr>
          <a:xfrm>
            <a:off x="0" y="0"/>
            <a:ext cx="12192000" cy="539646"/>
          </a:xfrm>
          <a:prstGeom prst="rect">
            <a:avLst/>
          </a:prstGeom>
          <a:solidFill>
            <a:srgbClr val="105A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34579213-29DF-6D93-B15A-7043710A40E4}"/>
              </a:ext>
            </a:extLst>
          </p:cNvPr>
          <p:cNvPicPr>
            <a:picLocks noChangeAspect="1"/>
          </p:cNvPicPr>
          <p:nvPr/>
        </p:nvPicPr>
        <p:blipFill>
          <a:blip r:embed="rId3"/>
          <a:stretch>
            <a:fillRect/>
          </a:stretch>
        </p:blipFill>
        <p:spPr>
          <a:xfrm>
            <a:off x="67644" y="6143431"/>
            <a:ext cx="489491" cy="571317"/>
          </a:xfrm>
          <a:prstGeom prst="rect">
            <a:avLst/>
          </a:prstGeom>
        </p:spPr>
      </p:pic>
      <p:sp>
        <p:nvSpPr>
          <p:cNvPr id="2" name="Subtitle 2">
            <a:extLst>
              <a:ext uri="{FF2B5EF4-FFF2-40B4-BE49-F238E27FC236}">
                <a16:creationId xmlns:a16="http://schemas.microsoft.com/office/drawing/2014/main" id="{71EAE9B2-EE13-3BF3-A9E3-3E143D15C212}"/>
              </a:ext>
            </a:extLst>
          </p:cNvPr>
          <p:cNvSpPr>
            <a:spLocks noGrp="1"/>
          </p:cNvSpPr>
          <p:nvPr>
            <p:ph type="subTitle" idx="1"/>
          </p:nvPr>
        </p:nvSpPr>
        <p:spPr>
          <a:xfrm>
            <a:off x="1808672" y="3170207"/>
            <a:ext cx="8574656" cy="558089"/>
          </a:xfrm>
        </p:spPr>
        <p:txBody>
          <a:bodyPr anchor="t">
            <a:noAutofit/>
          </a:bodyPr>
          <a:lstStyle/>
          <a:p>
            <a:pPr>
              <a:lnSpc>
                <a:spcPct val="110000"/>
              </a:lnSpc>
            </a:pPr>
            <a:r>
              <a:rPr lang="en-US" sz="3200"/>
              <a:t>POWL is a </a:t>
            </a:r>
            <a:r>
              <a:rPr lang="en-US" sz="3200">
                <a:solidFill>
                  <a:srgbClr val="105A3E"/>
                </a:solidFill>
              </a:rPr>
              <a:t>BUY</a:t>
            </a:r>
          </a:p>
          <a:p>
            <a:pPr>
              <a:lnSpc>
                <a:spcPct val="110000"/>
              </a:lnSpc>
            </a:pPr>
            <a:r>
              <a:rPr lang="en-US" sz="2000"/>
              <a:t>Due to its </a:t>
            </a:r>
            <a:r>
              <a:rPr lang="en-US" sz="2000" b="1"/>
              <a:t>healthy backlog, recent strategic acquisitions, and robust balance sheet</a:t>
            </a:r>
            <a:r>
              <a:rPr lang="en-US" sz="2000"/>
              <a:t>, which provides both stability and growth potential, positioning it well to benefit from long-term trends in electrification and infrastructure modernization.</a:t>
            </a:r>
            <a:endParaRPr lang="en-US" sz="2000" b="0">
              <a:effectLst/>
            </a:endParaRPr>
          </a:p>
        </p:txBody>
      </p:sp>
    </p:spTree>
    <p:extLst>
      <p:ext uri="{BB962C8B-B14F-4D97-AF65-F5344CB8AC3E}">
        <p14:creationId xmlns:p14="http://schemas.microsoft.com/office/powerpoint/2010/main" val="798437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70BE6-4979-1F0B-98D6-68D8BB6518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A3AC03-4114-A808-BB95-31864A0B6661}"/>
              </a:ext>
            </a:extLst>
          </p:cNvPr>
          <p:cNvSpPr>
            <a:spLocks noGrp="1"/>
          </p:cNvSpPr>
          <p:nvPr>
            <p:ph type="title"/>
          </p:nvPr>
        </p:nvSpPr>
        <p:spPr/>
        <p:txBody>
          <a:bodyPr/>
          <a:lstStyle/>
          <a:p>
            <a:r>
              <a:rPr lang="en-US"/>
              <a:t>1. Healthy Backlog</a:t>
            </a:r>
          </a:p>
        </p:txBody>
      </p:sp>
      <p:sp>
        <p:nvSpPr>
          <p:cNvPr id="4" name="Rectangle 3">
            <a:extLst>
              <a:ext uri="{FF2B5EF4-FFF2-40B4-BE49-F238E27FC236}">
                <a16:creationId xmlns:a16="http://schemas.microsoft.com/office/drawing/2014/main" id="{2BC1055F-C2D1-5A7B-3519-F7FDB520C961}"/>
              </a:ext>
            </a:extLst>
          </p:cNvPr>
          <p:cNvSpPr/>
          <p:nvPr/>
        </p:nvSpPr>
        <p:spPr>
          <a:xfrm>
            <a:off x="0" y="0"/>
            <a:ext cx="12192000" cy="539646"/>
          </a:xfrm>
          <a:prstGeom prst="rect">
            <a:avLst/>
          </a:prstGeom>
          <a:solidFill>
            <a:srgbClr val="105A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CC07735-2A8C-096C-BAF4-7E41BF59601E}"/>
              </a:ext>
            </a:extLst>
          </p:cNvPr>
          <p:cNvPicPr>
            <a:picLocks noChangeAspect="1"/>
          </p:cNvPicPr>
          <p:nvPr/>
        </p:nvPicPr>
        <p:blipFill>
          <a:blip r:embed="rId3"/>
          <a:stretch>
            <a:fillRect/>
          </a:stretch>
        </p:blipFill>
        <p:spPr>
          <a:xfrm>
            <a:off x="67644" y="6143431"/>
            <a:ext cx="489491" cy="571317"/>
          </a:xfrm>
          <a:prstGeom prst="rect">
            <a:avLst/>
          </a:prstGeom>
        </p:spPr>
      </p:pic>
      <p:sp>
        <p:nvSpPr>
          <p:cNvPr id="3" name="Content Placeholder 2">
            <a:extLst>
              <a:ext uri="{FF2B5EF4-FFF2-40B4-BE49-F238E27FC236}">
                <a16:creationId xmlns:a16="http://schemas.microsoft.com/office/drawing/2014/main" id="{A6BBFABF-A308-C2B0-C3ED-F106A66BDE59}"/>
              </a:ext>
            </a:extLst>
          </p:cNvPr>
          <p:cNvSpPr>
            <a:spLocks noGrp="1"/>
          </p:cNvSpPr>
          <p:nvPr>
            <p:ph idx="1"/>
          </p:nvPr>
        </p:nvSpPr>
        <p:spPr>
          <a:xfrm>
            <a:off x="612648" y="1350454"/>
            <a:ext cx="11277111" cy="4593828"/>
          </a:xfrm>
        </p:spPr>
        <p:txBody>
          <a:bodyPr>
            <a:normAutofit/>
          </a:bodyPr>
          <a:lstStyle/>
          <a:p>
            <a:r>
              <a:rPr lang="en-US" sz="1800"/>
              <a:t>FY25 Q3: </a:t>
            </a:r>
            <a:r>
              <a:rPr lang="en-US" sz="1800" b="1"/>
              <a:t>$1.4 billion backlog</a:t>
            </a:r>
            <a:r>
              <a:rPr lang="en-US" sz="1800"/>
              <a:t>; record-breaking level</a:t>
            </a:r>
          </a:p>
          <a:p>
            <a:pPr lvl="1"/>
            <a:r>
              <a:rPr lang="en-US" b="1"/>
              <a:t>5% increase </a:t>
            </a:r>
            <a:r>
              <a:rPr lang="en-US"/>
              <a:t>from the prior year</a:t>
            </a:r>
          </a:p>
          <a:p>
            <a:pPr lvl="1"/>
            <a:r>
              <a:rPr lang="en-US"/>
              <a:t>More backlog than revenue</a:t>
            </a:r>
          </a:p>
          <a:p>
            <a:r>
              <a:rPr lang="en-US" sz="1800"/>
              <a:t>Projects about </a:t>
            </a:r>
            <a:r>
              <a:rPr lang="en-US" sz="1800" b="1"/>
              <a:t>$849 million </a:t>
            </a:r>
            <a:r>
              <a:rPr lang="en-US" sz="1800"/>
              <a:t>of its backlog to be converted into revenue in the future</a:t>
            </a:r>
          </a:p>
          <a:p>
            <a:r>
              <a:rPr lang="en-US" sz="1800"/>
              <a:t>Backlog = work that is already guaranteed = predictable revenue stream</a:t>
            </a:r>
          </a:p>
          <a:p>
            <a:pPr lvl="1"/>
            <a:r>
              <a:rPr lang="en-US"/>
              <a:t>Committed to completing more work than it provided in FY25, indicating a higher revenue for FY26. </a:t>
            </a:r>
          </a:p>
          <a:p>
            <a:r>
              <a:rPr lang="en-US" sz="1800"/>
              <a:t>Industrial companies with engineer-to-order products have a very high backlog conversion rate. </a:t>
            </a:r>
          </a:p>
          <a:p>
            <a:pPr lvl="1"/>
            <a:r>
              <a:rPr lang="en-US"/>
              <a:t>POWL tends to convert </a:t>
            </a:r>
            <a:r>
              <a:rPr lang="en-US" b="1"/>
              <a:t>70-85%</a:t>
            </a:r>
            <a:r>
              <a:rPr lang="en-US"/>
              <a:t> of its backlog into revenue in less than 18 months.</a:t>
            </a:r>
          </a:p>
        </p:txBody>
      </p:sp>
      <p:pic>
        <p:nvPicPr>
          <p:cNvPr id="6" name="Picture 5">
            <a:extLst>
              <a:ext uri="{FF2B5EF4-FFF2-40B4-BE49-F238E27FC236}">
                <a16:creationId xmlns:a16="http://schemas.microsoft.com/office/drawing/2014/main" id="{E391FD55-18C7-2B0F-3E07-6A2BF5238587}"/>
              </a:ext>
            </a:extLst>
          </p:cNvPr>
          <p:cNvPicPr>
            <a:picLocks noChangeAspect="1"/>
          </p:cNvPicPr>
          <p:nvPr/>
        </p:nvPicPr>
        <p:blipFill>
          <a:blip r:embed="rId4"/>
          <a:stretch>
            <a:fillRect/>
          </a:stretch>
        </p:blipFill>
        <p:spPr>
          <a:xfrm>
            <a:off x="3113071" y="4920126"/>
            <a:ext cx="5652732" cy="1953461"/>
          </a:xfrm>
          <a:prstGeom prst="rect">
            <a:avLst/>
          </a:prstGeom>
        </p:spPr>
      </p:pic>
    </p:spTree>
    <p:extLst>
      <p:ext uri="{BB962C8B-B14F-4D97-AF65-F5344CB8AC3E}">
        <p14:creationId xmlns:p14="http://schemas.microsoft.com/office/powerpoint/2010/main" val="3822291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EA4FA-9669-F641-C1E2-C703F2EE87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30F1C1-189A-D18A-D732-D3B2121970D5}"/>
              </a:ext>
            </a:extLst>
          </p:cNvPr>
          <p:cNvSpPr>
            <a:spLocks noGrp="1"/>
          </p:cNvSpPr>
          <p:nvPr>
            <p:ph type="title"/>
          </p:nvPr>
        </p:nvSpPr>
        <p:spPr/>
        <p:txBody>
          <a:bodyPr/>
          <a:lstStyle/>
          <a:p>
            <a:r>
              <a:rPr lang="en-US"/>
              <a:t>2. Strategic Acquisition</a:t>
            </a:r>
          </a:p>
        </p:txBody>
      </p:sp>
      <p:sp>
        <p:nvSpPr>
          <p:cNvPr id="4" name="Rectangle 3">
            <a:extLst>
              <a:ext uri="{FF2B5EF4-FFF2-40B4-BE49-F238E27FC236}">
                <a16:creationId xmlns:a16="http://schemas.microsoft.com/office/drawing/2014/main" id="{2003D287-B87A-8AC2-8140-960F44226534}"/>
              </a:ext>
            </a:extLst>
          </p:cNvPr>
          <p:cNvSpPr/>
          <p:nvPr/>
        </p:nvSpPr>
        <p:spPr>
          <a:xfrm>
            <a:off x="0" y="0"/>
            <a:ext cx="12192000" cy="539646"/>
          </a:xfrm>
          <a:prstGeom prst="rect">
            <a:avLst/>
          </a:prstGeom>
          <a:solidFill>
            <a:srgbClr val="105A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110A67A-BBC0-7399-875D-268E72ED0289}"/>
              </a:ext>
            </a:extLst>
          </p:cNvPr>
          <p:cNvPicPr>
            <a:picLocks noChangeAspect="1"/>
          </p:cNvPicPr>
          <p:nvPr/>
        </p:nvPicPr>
        <p:blipFill>
          <a:blip r:embed="rId3"/>
          <a:stretch>
            <a:fillRect/>
          </a:stretch>
        </p:blipFill>
        <p:spPr>
          <a:xfrm>
            <a:off x="67644" y="6143431"/>
            <a:ext cx="489491" cy="571317"/>
          </a:xfrm>
          <a:prstGeom prst="rect">
            <a:avLst/>
          </a:prstGeom>
        </p:spPr>
      </p:pic>
      <p:sp>
        <p:nvSpPr>
          <p:cNvPr id="3" name="Content Placeholder 2">
            <a:extLst>
              <a:ext uri="{FF2B5EF4-FFF2-40B4-BE49-F238E27FC236}">
                <a16:creationId xmlns:a16="http://schemas.microsoft.com/office/drawing/2014/main" id="{334ACBA1-1095-3E8C-8E4E-A25AA4E77FCF}"/>
              </a:ext>
            </a:extLst>
          </p:cNvPr>
          <p:cNvSpPr>
            <a:spLocks noGrp="1"/>
          </p:cNvSpPr>
          <p:nvPr>
            <p:ph idx="1"/>
          </p:nvPr>
        </p:nvSpPr>
        <p:spPr>
          <a:xfrm>
            <a:off x="612648" y="1715532"/>
            <a:ext cx="11301848" cy="4593828"/>
          </a:xfrm>
        </p:spPr>
        <p:txBody>
          <a:bodyPr>
            <a:normAutofit fontScale="85000" lnSpcReduction="10000"/>
          </a:bodyPr>
          <a:lstStyle/>
          <a:p>
            <a:r>
              <a:rPr lang="en-US"/>
              <a:t>August 2025: Completed acquisition of </a:t>
            </a:r>
            <a:r>
              <a:rPr lang="en-US" err="1"/>
              <a:t>Remsdaq</a:t>
            </a:r>
            <a:r>
              <a:rPr lang="en-US"/>
              <a:t> Ltd</a:t>
            </a:r>
          </a:p>
          <a:p>
            <a:pPr lvl="1"/>
            <a:r>
              <a:rPr lang="en-US"/>
              <a:t>Specializes in remote terminal units (RTUs) for various electrical utilities and integrated security systems such as access control and perimeter breach detection</a:t>
            </a:r>
          </a:p>
          <a:p>
            <a:r>
              <a:rPr lang="en-US"/>
              <a:t>Expands POWL’s reach and improves its automation and software by filling a gap in its’ product portfolio</a:t>
            </a:r>
          </a:p>
          <a:p>
            <a:r>
              <a:rPr lang="en-US"/>
              <a:t>Core competency: low to medium-voltage switchgear. </a:t>
            </a:r>
          </a:p>
          <a:p>
            <a:pPr lvl="1"/>
            <a:r>
              <a:rPr lang="en-US"/>
              <a:t>Data centers are demanding automated systems that can provide real-time information to the company regarding electrical operations = done through RTU systems</a:t>
            </a:r>
          </a:p>
          <a:p>
            <a:r>
              <a:rPr lang="en-US"/>
              <a:t>POWL can now offer a fully integrated power package with automation in mind. </a:t>
            </a:r>
          </a:p>
          <a:p>
            <a:r>
              <a:rPr lang="en-US"/>
              <a:t>Acquisition expands their capabilities as an electrical equipment company and transforms their product offerings, </a:t>
            </a:r>
          </a:p>
          <a:p>
            <a:pPr lvl="1"/>
            <a:r>
              <a:rPr lang="en-US"/>
              <a:t>Ensuring they are providing the best to their customers and staying relevant in the competitive industry. </a:t>
            </a:r>
          </a:p>
          <a:p>
            <a:r>
              <a:rPr lang="en-US"/>
              <a:t>POWL is aware of the gaps it needs to fill and is actively working on improving itself to ensure long-term growth and stability.</a:t>
            </a:r>
          </a:p>
        </p:txBody>
      </p:sp>
      <p:pic>
        <p:nvPicPr>
          <p:cNvPr id="6" name="Picture 5">
            <a:extLst>
              <a:ext uri="{FF2B5EF4-FFF2-40B4-BE49-F238E27FC236}">
                <a16:creationId xmlns:a16="http://schemas.microsoft.com/office/drawing/2014/main" id="{D12B0A0E-2B5E-B002-D4CC-5DB15A2CA40D}"/>
              </a:ext>
            </a:extLst>
          </p:cNvPr>
          <p:cNvPicPr>
            <a:picLocks noChangeAspect="1"/>
          </p:cNvPicPr>
          <p:nvPr/>
        </p:nvPicPr>
        <p:blipFill>
          <a:blip r:embed="rId4"/>
          <a:stretch>
            <a:fillRect/>
          </a:stretch>
        </p:blipFill>
        <p:spPr>
          <a:xfrm>
            <a:off x="7544828" y="691451"/>
            <a:ext cx="4155190" cy="1006764"/>
          </a:xfrm>
          <a:prstGeom prst="rect">
            <a:avLst/>
          </a:prstGeom>
        </p:spPr>
      </p:pic>
    </p:spTree>
    <p:extLst>
      <p:ext uri="{BB962C8B-B14F-4D97-AF65-F5344CB8AC3E}">
        <p14:creationId xmlns:p14="http://schemas.microsoft.com/office/powerpoint/2010/main" val="32193699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30DB4-07C9-6ACD-567F-280339AC94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EA294F-4765-57E1-C468-1708484EBB12}"/>
              </a:ext>
            </a:extLst>
          </p:cNvPr>
          <p:cNvSpPr>
            <a:spLocks noGrp="1"/>
          </p:cNvSpPr>
          <p:nvPr>
            <p:ph type="title"/>
          </p:nvPr>
        </p:nvSpPr>
        <p:spPr/>
        <p:txBody>
          <a:bodyPr/>
          <a:lstStyle/>
          <a:p>
            <a:r>
              <a:rPr lang="en-US"/>
              <a:t>3. Robust Balance Sheet</a:t>
            </a:r>
          </a:p>
        </p:txBody>
      </p:sp>
      <p:sp>
        <p:nvSpPr>
          <p:cNvPr id="4" name="Rectangle 3">
            <a:extLst>
              <a:ext uri="{FF2B5EF4-FFF2-40B4-BE49-F238E27FC236}">
                <a16:creationId xmlns:a16="http://schemas.microsoft.com/office/drawing/2014/main" id="{9396B864-8ACF-64FF-770D-57F4C6C557C3}"/>
              </a:ext>
            </a:extLst>
          </p:cNvPr>
          <p:cNvSpPr/>
          <p:nvPr/>
        </p:nvSpPr>
        <p:spPr>
          <a:xfrm>
            <a:off x="0" y="0"/>
            <a:ext cx="12192000" cy="539646"/>
          </a:xfrm>
          <a:prstGeom prst="rect">
            <a:avLst/>
          </a:prstGeom>
          <a:solidFill>
            <a:srgbClr val="105A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F49158D-49C5-B483-DECF-4B0881382741}"/>
              </a:ext>
            </a:extLst>
          </p:cNvPr>
          <p:cNvPicPr>
            <a:picLocks noChangeAspect="1"/>
          </p:cNvPicPr>
          <p:nvPr/>
        </p:nvPicPr>
        <p:blipFill>
          <a:blip r:embed="rId3"/>
          <a:stretch>
            <a:fillRect/>
          </a:stretch>
        </p:blipFill>
        <p:spPr>
          <a:xfrm>
            <a:off x="67644" y="6143431"/>
            <a:ext cx="489491" cy="571317"/>
          </a:xfrm>
          <a:prstGeom prst="rect">
            <a:avLst/>
          </a:prstGeom>
        </p:spPr>
      </p:pic>
      <p:sp>
        <p:nvSpPr>
          <p:cNvPr id="3" name="Content Placeholder 2">
            <a:extLst>
              <a:ext uri="{FF2B5EF4-FFF2-40B4-BE49-F238E27FC236}">
                <a16:creationId xmlns:a16="http://schemas.microsoft.com/office/drawing/2014/main" id="{07E193FF-EE3D-017D-DD2D-C8F4B6CEC62C}"/>
              </a:ext>
            </a:extLst>
          </p:cNvPr>
          <p:cNvSpPr>
            <a:spLocks noGrp="1"/>
          </p:cNvSpPr>
          <p:nvPr>
            <p:ph idx="1"/>
          </p:nvPr>
        </p:nvSpPr>
        <p:spPr>
          <a:xfrm>
            <a:off x="612647" y="1715532"/>
            <a:ext cx="7398589" cy="4593828"/>
          </a:xfrm>
        </p:spPr>
        <p:txBody>
          <a:bodyPr>
            <a:normAutofit lnSpcReduction="10000"/>
          </a:bodyPr>
          <a:lstStyle/>
          <a:p>
            <a:r>
              <a:rPr lang="en-US"/>
              <a:t>FY25 Q3: </a:t>
            </a:r>
            <a:r>
              <a:rPr lang="en-US" b="1"/>
              <a:t>$433 million </a:t>
            </a:r>
            <a:r>
              <a:rPr lang="en-US"/>
              <a:t>in cash or short-term investments, </a:t>
            </a:r>
          </a:p>
          <a:p>
            <a:pPr lvl="1"/>
            <a:r>
              <a:rPr lang="en-US"/>
              <a:t>Gives POWL the opportunity to make more acquisitions, invest, and absorb volatility. </a:t>
            </a:r>
          </a:p>
          <a:p>
            <a:r>
              <a:rPr lang="en-US"/>
              <a:t>Cash provides for a strong buffer against any unexpected project delays. </a:t>
            </a:r>
          </a:p>
          <a:p>
            <a:pPr lvl="1"/>
            <a:r>
              <a:rPr lang="en-US"/>
              <a:t>Funding capital expenditures or making more strategic acquisitions without taking on significant debt (no debt disclosed in FY25 Q3 earnings report)</a:t>
            </a:r>
          </a:p>
          <a:p>
            <a:r>
              <a:rPr lang="en-US"/>
              <a:t>Generated about </a:t>
            </a:r>
            <a:r>
              <a:rPr lang="en-US" b="1"/>
              <a:t>$168 million </a:t>
            </a:r>
            <a:r>
              <a:rPr lang="en-US"/>
              <a:t>in operating cash flow in FY25</a:t>
            </a:r>
          </a:p>
          <a:p>
            <a:r>
              <a:rPr lang="en-US"/>
              <a:t>Not only does POWL have cash on hand, but it is also able to generate cash from its business operations.</a:t>
            </a:r>
          </a:p>
        </p:txBody>
      </p:sp>
      <p:graphicFrame>
        <p:nvGraphicFramePr>
          <p:cNvPr id="6" name="Table 5">
            <a:extLst>
              <a:ext uri="{FF2B5EF4-FFF2-40B4-BE49-F238E27FC236}">
                <a16:creationId xmlns:a16="http://schemas.microsoft.com/office/drawing/2014/main" id="{3F51FFFC-2E95-CCFC-BB9B-2EE63826AFB7}"/>
              </a:ext>
            </a:extLst>
          </p:cNvPr>
          <p:cNvGraphicFramePr>
            <a:graphicFrameLocks noGrp="1"/>
          </p:cNvGraphicFramePr>
          <p:nvPr>
            <p:extLst>
              <p:ext uri="{D42A27DB-BD31-4B8C-83A1-F6EECF244321}">
                <p14:modId xmlns:p14="http://schemas.microsoft.com/office/powerpoint/2010/main" val="2261451534"/>
              </p:ext>
            </p:extLst>
          </p:nvPr>
        </p:nvGraphicFramePr>
        <p:xfrm>
          <a:off x="8066748" y="2035739"/>
          <a:ext cx="3678993" cy="3273795"/>
        </p:xfrm>
        <a:graphic>
          <a:graphicData uri="http://schemas.openxmlformats.org/drawingml/2006/table">
            <a:tbl>
              <a:tblPr bandRow="1">
                <a:tableStyleId>{5C22544A-7EE6-4342-B048-85BDC9FD1C3A}</a:tableStyleId>
              </a:tblPr>
              <a:tblGrid>
                <a:gridCol w="1226331">
                  <a:extLst>
                    <a:ext uri="{9D8B030D-6E8A-4147-A177-3AD203B41FA5}">
                      <a16:colId xmlns:a16="http://schemas.microsoft.com/office/drawing/2014/main" val="4147991896"/>
                    </a:ext>
                  </a:extLst>
                </a:gridCol>
                <a:gridCol w="1226331">
                  <a:extLst>
                    <a:ext uri="{9D8B030D-6E8A-4147-A177-3AD203B41FA5}">
                      <a16:colId xmlns:a16="http://schemas.microsoft.com/office/drawing/2014/main" val="3780000632"/>
                    </a:ext>
                  </a:extLst>
                </a:gridCol>
                <a:gridCol w="1226331">
                  <a:extLst>
                    <a:ext uri="{9D8B030D-6E8A-4147-A177-3AD203B41FA5}">
                      <a16:colId xmlns:a16="http://schemas.microsoft.com/office/drawing/2014/main" val="147391940"/>
                    </a:ext>
                  </a:extLst>
                </a:gridCol>
              </a:tblGrid>
              <a:tr h="1091265">
                <a:tc>
                  <a:txBody>
                    <a:bodyPr/>
                    <a:lstStyle/>
                    <a:p>
                      <a:r>
                        <a:rPr lang="en-US" b="1"/>
                        <a:t>Current Ratio</a:t>
                      </a:r>
                    </a:p>
                  </a:txBody>
                  <a:tcPr/>
                </a:tc>
                <a:tc>
                  <a:txBody>
                    <a:bodyPr/>
                    <a:lstStyle/>
                    <a:p>
                      <a:r>
                        <a:rPr lang="en-US" b="1"/>
                        <a:t>2.06</a:t>
                      </a:r>
                    </a:p>
                  </a:txBody>
                  <a:tcPr/>
                </a:tc>
                <a:tc>
                  <a:txBody>
                    <a:bodyPr/>
                    <a:lstStyle/>
                    <a:p>
                      <a:r>
                        <a:rPr lang="en-US" sz="1200"/>
                        <a:t>POWL can comfortably meet short-term obligations</a:t>
                      </a:r>
                    </a:p>
                  </a:txBody>
                  <a:tcPr/>
                </a:tc>
                <a:extLst>
                  <a:ext uri="{0D108BD9-81ED-4DB2-BD59-A6C34878D82A}">
                    <a16:rowId xmlns:a16="http://schemas.microsoft.com/office/drawing/2014/main" val="2569679180"/>
                  </a:ext>
                </a:extLst>
              </a:tr>
              <a:tr h="1091265">
                <a:tc>
                  <a:txBody>
                    <a:bodyPr/>
                    <a:lstStyle/>
                    <a:p>
                      <a:r>
                        <a:rPr lang="en-US" b="1"/>
                        <a:t>Debt-to-Equity Ratio</a:t>
                      </a:r>
                    </a:p>
                  </a:txBody>
                  <a:tcPr/>
                </a:tc>
                <a:tc>
                  <a:txBody>
                    <a:bodyPr/>
                    <a:lstStyle/>
                    <a:p>
                      <a:r>
                        <a:rPr lang="en-US" b="1"/>
                        <a:t>0</a:t>
                      </a:r>
                    </a:p>
                  </a:txBody>
                  <a:tcPr/>
                </a:tc>
                <a:tc>
                  <a:txBody>
                    <a:bodyPr/>
                    <a:lstStyle/>
                    <a:p>
                      <a:r>
                        <a:rPr lang="en-US" sz="1200"/>
                        <a:t>Debt-Free</a:t>
                      </a:r>
                    </a:p>
                  </a:txBody>
                  <a:tcPr/>
                </a:tc>
                <a:extLst>
                  <a:ext uri="{0D108BD9-81ED-4DB2-BD59-A6C34878D82A}">
                    <a16:rowId xmlns:a16="http://schemas.microsoft.com/office/drawing/2014/main" val="2239577952"/>
                  </a:ext>
                </a:extLst>
              </a:tr>
              <a:tr h="1091265">
                <a:tc>
                  <a:txBody>
                    <a:bodyPr/>
                    <a:lstStyle/>
                    <a:p>
                      <a:r>
                        <a:rPr lang="en-US" b="1"/>
                        <a:t>Cash-to-Assets Ratio</a:t>
                      </a:r>
                    </a:p>
                  </a:txBody>
                  <a:tcPr/>
                </a:tc>
                <a:tc>
                  <a:txBody>
                    <a:bodyPr/>
                    <a:lstStyle/>
                    <a:p>
                      <a:r>
                        <a:rPr lang="en-US" b="1"/>
                        <a:t>0.4</a:t>
                      </a:r>
                    </a:p>
                  </a:txBody>
                  <a:tcPr/>
                </a:tc>
                <a:tc>
                  <a:txBody>
                    <a:bodyPr/>
                    <a:lstStyle/>
                    <a:p>
                      <a:r>
                        <a:rPr lang="en-US" sz="1200"/>
                        <a:t>Significant portion of assets are held in cash</a:t>
                      </a:r>
                    </a:p>
                  </a:txBody>
                  <a:tcPr/>
                </a:tc>
                <a:extLst>
                  <a:ext uri="{0D108BD9-81ED-4DB2-BD59-A6C34878D82A}">
                    <a16:rowId xmlns:a16="http://schemas.microsoft.com/office/drawing/2014/main" val="3665100575"/>
                  </a:ext>
                </a:extLst>
              </a:tr>
            </a:tbl>
          </a:graphicData>
        </a:graphic>
      </p:graphicFrame>
      <p:sp>
        <p:nvSpPr>
          <p:cNvPr id="7" name="TextBox 6">
            <a:extLst>
              <a:ext uri="{FF2B5EF4-FFF2-40B4-BE49-F238E27FC236}">
                <a16:creationId xmlns:a16="http://schemas.microsoft.com/office/drawing/2014/main" id="{B928D746-767F-BC0F-603D-8B9DDAAC5C98}"/>
              </a:ext>
            </a:extLst>
          </p:cNvPr>
          <p:cNvSpPr txBox="1"/>
          <p:nvPr/>
        </p:nvSpPr>
        <p:spPr>
          <a:xfrm>
            <a:off x="9330605" y="5309534"/>
            <a:ext cx="1151277" cy="261610"/>
          </a:xfrm>
          <a:prstGeom prst="rect">
            <a:avLst/>
          </a:prstGeom>
          <a:noFill/>
        </p:spPr>
        <p:txBody>
          <a:bodyPr wrap="none" rtlCol="0">
            <a:spAutoFit/>
          </a:bodyPr>
          <a:lstStyle/>
          <a:p>
            <a:r>
              <a:rPr lang="en-US" sz="1100" i="1"/>
              <a:t>Via </a:t>
            </a:r>
            <a:r>
              <a:rPr lang="en-US" sz="1100" i="1" err="1"/>
              <a:t>GuruFocus</a:t>
            </a:r>
            <a:endParaRPr lang="en-US" sz="1100" i="1"/>
          </a:p>
        </p:txBody>
      </p:sp>
    </p:spTree>
    <p:extLst>
      <p:ext uri="{BB962C8B-B14F-4D97-AF65-F5344CB8AC3E}">
        <p14:creationId xmlns:p14="http://schemas.microsoft.com/office/powerpoint/2010/main" val="141811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E39A-E5D4-BAA8-F97B-D3ECFCCD3E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7B2A27E-6C6F-E6F8-02F0-CFD160DD140E}"/>
              </a:ext>
            </a:extLst>
          </p:cNvPr>
          <p:cNvSpPr>
            <a:spLocks noGrp="1"/>
          </p:cNvSpPr>
          <p:nvPr>
            <p:ph type="ctrTitle"/>
          </p:nvPr>
        </p:nvSpPr>
        <p:spPr>
          <a:xfrm>
            <a:off x="557135" y="3004590"/>
            <a:ext cx="11077730" cy="848819"/>
          </a:xfrm>
        </p:spPr>
        <p:txBody>
          <a:bodyPr>
            <a:normAutofit fontScale="90000"/>
          </a:bodyPr>
          <a:lstStyle/>
          <a:p>
            <a:r>
              <a:rPr lang="en-US" sz="7200"/>
              <a:t>Risks and Mitigants</a:t>
            </a:r>
          </a:p>
        </p:txBody>
      </p:sp>
      <p:sp>
        <p:nvSpPr>
          <p:cNvPr id="6" name="Rectangle 5">
            <a:extLst>
              <a:ext uri="{FF2B5EF4-FFF2-40B4-BE49-F238E27FC236}">
                <a16:creationId xmlns:a16="http://schemas.microsoft.com/office/drawing/2014/main" id="{60EE382C-6A39-A0AC-2250-042B50D0519E}"/>
              </a:ext>
            </a:extLst>
          </p:cNvPr>
          <p:cNvSpPr/>
          <p:nvPr/>
        </p:nvSpPr>
        <p:spPr>
          <a:xfrm>
            <a:off x="0" y="0"/>
            <a:ext cx="12192000" cy="539646"/>
          </a:xfrm>
          <a:prstGeom prst="rect">
            <a:avLst/>
          </a:prstGeom>
          <a:solidFill>
            <a:srgbClr val="105A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F3868DB3-4886-F1E9-2D23-22FCC9387007}"/>
              </a:ext>
            </a:extLst>
          </p:cNvPr>
          <p:cNvPicPr>
            <a:picLocks noChangeAspect="1"/>
          </p:cNvPicPr>
          <p:nvPr/>
        </p:nvPicPr>
        <p:blipFill>
          <a:blip r:embed="rId2"/>
          <a:stretch>
            <a:fillRect/>
          </a:stretch>
        </p:blipFill>
        <p:spPr>
          <a:xfrm>
            <a:off x="67644" y="6143431"/>
            <a:ext cx="489491" cy="571317"/>
          </a:xfrm>
          <a:prstGeom prst="rect">
            <a:avLst/>
          </a:prstGeom>
        </p:spPr>
      </p:pic>
    </p:spTree>
    <p:extLst>
      <p:ext uri="{BB962C8B-B14F-4D97-AF65-F5344CB8AC3E}">
        <p14:creationId xmlns:p14="http://schemas.microsoft.com/office/powerpoint/2010/main" val="22536802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160E7-74AB-1D9F-99C7-3FFDB76BD7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083EC0-5A6A-3C07-02F6-4A691AF5187D}"/>
              </a:ext>
            </a:extLst>
          </p:cNvPr>
          <p:cNvSpPr>
            <a:spLocks noGrp="1"/>
          </p:cNvSpPr>
          <p:nvPr>
            <p:ph type="title"/>
          </p:nvPr>
        </p:nvSpPr>
        <p:spPr/>
        <p:txBody>
          <a:bodyPr/>
          <a:lstStyle/>
          <a:p>
            <a:r>
              <a:rPr lang="en-US"/>
              <a:t>Competition and Market Share</a:t>
            </a:r>
          </a:p>
        </p:txBody>
      </p:sp>
      <p:sp>
        <p:nvSpPr>
          <p:cNvPr id="4" name="Rectangle 3">
            <a:extLst>
              <a:ext uri="{FF2B5EF4-FFF2-40B4-BE49-F238E27FC236}">
                <a16:creationId xmlns:a16="http://schemas.microsoft.com/office/drawing/2014/main" id="{AF4C3955-EEB7-505B-4ABE-E3B071D46984}"/>
              </a:ext>
            </a:extLst>
          </p:cNvPr>
          <p:cNvSpPr/>
          <p:nvPr/>
        </p:nvSpPr>
        <p:spPr>
          <a:xfrm>
            <a:off x="0" y="0"/>
            <a:ext cx="12192000" cy="539646"/>
          </a:xfrm>
          <a:prstGeom prst="rect">
            <a:avLst/>
          </a:prstGeom>
          <a:solidFill>
            <a:srgbClr val="105A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BECAD62-DB48-8975-BC5C-6A7400E28B6E}"/>
              </a:ext>
            </a:extLst>
          </p:cNvPr>
          <p:cNvPicPr>
            <a:picLocks noChangeAspect="1"/>
          </p:cNvPicPr>
          <p:nvPr/>
        </p:nvPicPr>
        <p:blipFill>
          <a:blip r:embed="rId3"/>
          <a:stretch>
            <a:fillRect/>
          </a:stretch>
        </p:blipFill>
        <p:spPr>
          <a:xfrm>
            <a:off x="67644" y="6143431"/>
            <a:ext cx="489491" cy="571317"/>
          </a:xfrm>
          <a:prstGeom prst="rect">
            <a:avLst/>
          </a:prstGeom>
        </p:spPr>
      </p:pic>
      <p:sp>
        <p:nvSpPr>
          <p:cNvPr id="3" name="Content Placeholder 2">
            <a:extLst>
              <a:ext uri="{FF2B5EF4-FFF2-40B4-BE49-F238E27FC236}">
                <a16:creationId xmlns:a16="http://schemas.microsoft.com/office/drawing/2014/main" id="{E61A5111-9A3E-57D6-D9B3-5556069FB7F8}"/>
              </a:ext>
            </a:extLst>
          </p:cNvPr>
          <p:cNvSpPr>
            <a:spLocks noGrp="1"/>
          </p:cNvSpPr>
          <p:nvPr>
            <p:ph idx="1"/>
          </p:nvPr>
        </p:nvSpPr>
        <p:spPr>
          <a:xfrm>
            <a:off x="612647" y="1715532"/>
            <a:ext cx="5483353" cy="4593828"/>
          </a:xfrm>
        </p:spPr>
        <p:txBody>
          <a:bodyPr>
            <a:normAutofit/>
          </a:bodyPr>
          <a:lstStyle/>
          <a:p>
            <a:pPr marL="0" indent="0">
              <a:buNone/>
            </a:pPr>
            <a:r>
              <a:rPr lang="en-US" u="sng" dirty="0"/>
              <a:t>Risk</a:t>
            </a:r>
            <a:r>
              <a:rPr lang="en-US" dirty="0"/>
              <a:t>: Heavy competition from larger global corporations in the industry, such as ABB and Siemens</a:t>
            </a:r>
          </a:p>
          <a:p>
            <a:r>
              <a:rPr lang="en-US" dirty="0"/>
              <a:t>POWL has a significantly lower market share (3.25%) compared to bigger competitors like ABB (4.9%) and Siemens (~40%).</a:t>
            </a:r>
          </a:p>
          <a:p>
            <a:r>
              <a:rPr lang="en-US" dirty="0"/>
              <a:t>Competitors can spread their fixed costs across a larger base = lower average cost per unit than smaller companies = economies of scale</a:t>
            </a:r>
            <a:endParaRPr lang="en-US" dirty="0">
              <a:effectLst/>
            </a:endParaRPr>
          </a:p>
        </p:txBody>
      </p:sp>
      <p:sp>
        <p:nvSpPr>
          <p:cNvPr id="6" name="Content Placeholder 2">
            <a:extLst>
              <a:ext uri="{FF2B5EF4-FFF2-40B4-BE49-F238E27FC236}">
                <a16:creationId xmlns:a16="http://schemas.microsoft.com/office/drawing/2014/main" id="{E1317353-3985-F384-C243-C72226BCF017}"/>
              </a:ext>
            </a:extLst>
          </p:cNvPr>
          <p:cNvSpPr txBox="1">
            <a:spLocks/>
          </p:cNvSpPr>
          <p:nvPr/>
        </p:nvSpPr>
        <p:spPr>
          <a:xfrm>
            <a:off x="6151512" y="1715532"/>
            <a:ext cx="5483353" cy="4593828"/>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u="sng" dirty="0"/>
              <a:t>Mitigant</a:t>
            </a:r>
            <a:r>
              <a:rPr lang="en-US" dirty="0"/>
              <a:t>: Emphasize product offerings built on customization, speed, and high-class services</a:t>
            </a:r>
          </a:p>
          <a:p>
            <a:r>
              <a:rPr lang="en-US" dirty="0"/>
              <a:t>Larger companies = standardized and high-volume products </a:t>
            </a:r>
          </a:p>
          <a:p>
            <a:r>
              <a:rPr lang="en-US" dirty="0"/>
              <a:t>POWL = customized, engineer-to-order products</a:t>
            </a:r>
          </a:p>
          <a:p>
            <a:endParaRPr lang="en-US" dirty="0"/>
          </a:p>
        </p:txBody>
      </p:sp>
      <p:pic>
        <p:nvPicPr>
          <p:cNvPr id="7" name="Picture 6">
            <a:extLst>
              <a:ext uri="{FF2B5EF4-FFF2-40B4-BE49-F238E27FC236}">
                <a16:creationId xmlns:a16="http://schemas.microsoft.com/office/drawing/2014/main" id="{7EB3A67E-B793-7DE5-6854-6F3D9DF9BADA}"/>
              </a:ext>
            </a:extLst>
          </p:cNvPr>
          <p:cNvPicPr>
            <a:picLocks noChangeAspect="1"/>
          </p:cNvPicPr>
          <p:nvPr/>
        </p:nvPicPr>
        <p:blipFill>
          <a:blip r:embed="rId4"/>
          <a:stretch>
            <a:fillRect/>
          </a:stretch>
        </p:blipFill>
        <p:spPr>
          <a:xfrm>
            <a:off x="8321124" y="4402536"/>
            <a:ext cx="3258229" cy="2170456"/>
          </a:xfrm>
          <a:prstGeom prst="rect">
            <a:avLst/>
          </a:prstGeom>
        </p:spPr>
      </p:pic>
    </p:spTree>
    <p:extLst>
      <p:ext uri="{BB962C8B-B14F-4D97-AF65-F5344CB8AC3E}">
        <p14:creationId xmlns:p14="http://schemas.microsoft.com/office/powerpoint/2010/main" val="16851213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F3ABA-0C7E-7B35-4D97-36F539D00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4AC255-494B-8F70-E627-DA397DA20A0B}"/>
              </a:ext>
            </a:extLst>
          </p:cNvPr>
          <p:cNvSpPr>
            <a:spLocks noGrp="1"/>
          </p:cNvSpPr>
          <p:nvPr>
            <p:ph type="title"/>
          </p:nvPr>
        </p:nvSpPr>
        <p:spPr/>
        <p:txBody>
          <a:bodyPr/>
          <a:lstStyle/>
          <a:p>
            <a:r>
              <a:rPr lang="en-US"/>
              <a:t>High Backlog Risk</a:t>
            </a:r>
          </a:p>
        </p:txBody>
      </p:sp>
      <p:sp>
        <p:nvSpPr>
          <p:cNvPr id="4" name="Rectangle 3">
            <a:extLst>
              <a:ext uri="{FF2B5EF4-FFF2-40B4-BE49-F238E27FC236}">
                <a16:creationId xmlns:a16="http://schemas.microsoft.com/office/drawing/2014/main" id="{C6842385-22B6-55FF-3C9B-E7F5D81A560E}"/>
              </a:ext>
            </a:extLst>
          </p:cNvPr>
          <p:cNvSpPr/>
          <p:nvPr/>
        </p:nvSpPr>
        <p:spPr>
          <a:xfrm>
            <a:off x="0" y="0"/>
            <a:ext cx="12192000" cy="539646"/>
          </a:xfrm>
          <a:prstGeom prst="rect">
            <a:avLst/>
          </a:prstGeom>
          <a:solidFill>
            <a:srgbClr val="105A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7020D48-7A70-749A-9E6F-E76AE7C9EAC1}"/>
              </a:ext>
            </a:extLst>
          </p:cNvPr>
          <p:cNvPicPr>
            <a:picLocks noChangeAspect="1"/>
          </p:cNvPicPr>
          <p:nvPr/>
        </p:nvPicPr>
        <p:blipFill>
          <a:blip r:embed="rId3"/>
          <a:stretch>
            <a:fillRect/>
          </a:stretch>
        </p:blipFill>
        <p:spPr>
          <a:xfrm>
            <a:off x="67644" y="6143431"/>
            <a:ext cx="489491" cy="571317"/>
          </a:xfrm>
          <a:prstGeom prst="rect">
            <a:avLst/>
          </a:prstGeom>
        </p:spPr>
      </p:pic>
      <p:sp>
        <p:nvSpPr>
          <p:cNvPr id="3" name="Content Placeholder 2">
            <a:extLst>
              <a:ext uri="{FF2B5EF4-FFF2-40B4-BE49-F238E27FC236}">
                <a16:creationId xmlns:a16="http://schemas.microsoft.com/office/drawing/2014/main" id="{9164AD4F-8FE2-AB6B-1C80-40A479F725AC}"/>
              </a:ext>
            </a:extLst>
          </p:cNvPr>
          <p:cNvSpPr>
            <a:spLocks noGrp="1"/>
          </p:cNvSpPr>
          <p:nvPr>
            <p:ph idx="1"/>
          </p:nvPr>
        </p:nvSpPr>
        <p:spPr>
          <a:xfrm>
            <a:off x="612647" y="1715532"/>
            <a:ext cx="5483353" cy="4593828"/>
          </a:xfrm>
        </p:spPr>
        <p:txBody>
          <a:bodyPr>
            <a:normAutofit/>
          </a:bodyPr>
          <a:lstStyle/>
          <a:p>
            <a:pPr marL="0" indent="0">
              <a:buNone/>
            </a:pPr>
            <a:r>
              <a:rPr lang="en-US" u="sng" dirty="0"/>
              <a:t>Risk</a:t>
            </a:r>
            <a:r>
              <a:rPr lang="en-US" dirty="0"/>
              <a:t>: High backlog risk in the event of project cancellations and delays</a:t>
            </a:r>
          </a:p>
          <a:p>
            <a:r>
              <a:rPr lang="en-US" dirty="0"/>
              <a:t>Large industrial projects are funded by oil and gas capex budgets and public infrastructure funding cycles</a:t>
            </a:r>
          </a:p>
          <a:p>
            <a:pPr lvl="1"/>
            <a:r>
              <a:rPr lang="en-US" dirty="0"/>
              <a:t>Reduces POWL’s expected revenue</a:t>
            </a:r>
          </a:p>
          <a:p>
            <a:pPr lvl="1"/>
            <a:r>
              <a:rPr lang="en-US" dirty="0"/>
              <a:t>Lower factory utilization than originally anticipated.</a:t>
            </a:r>
          </a:p>
        </p:txBody>
      </p:sp>
      <p:sp>
        <p:nvSpPr>
          <p:cNvPr id="6" name="Content Placeholder 2">
            <a:extLst>
              <a:ext uri="{FF2B5EF4-FFF2-40B4-BE49-F238E27FC236}">
                <a16:creationId xmlns:a16="http://schemas.microsoft.com/office/drawing/2014/main" id="{5F3DB91B-F51F-0539-5C92-8DD3661648D7}"/>
              </a:ext>
            </a:extLst>
          </p:cNvPr>
          <p:cNvSpPr txBox="1">
            <a:spLocks/>
          </p:cNvSpPr>
          <p:nvPr/>
        </p:nvSpPr>
        <p:spPr>
          <a:xfrm>
            <a:off x="6151512" y="1715532"/>
            <a:ext cx="5483353" cy="4593828"/>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u="sng" dirty="0"/>
              <a:t>Mitigant: </a:t>
            </a:r>
            <a:r>
              <a:rPr lang="en-US" dirty="0"/>
              <a:t>POWL is not dependent on one industry cycle and includes contractual items that reduce customer cancellations</a:t>
            </a:r>
          </a:p>
          <a:p>
            <a:r>
              <a:rPr lang="en-US" dirty="0"/>
              <a:t>Diversification in market segments reduces the risk of any sudden volatility</a:t>
            </a:r>
          </a:p>
          <a:p>
            <a:r>
              <a:rPr lang="en-US" dirty="0"/>
              <a:t>Cancellation penalties are thorough</a:t>
            </a:r>
          </a:p>
          <a:p>
            <a:r>
              <a:rPr lang="en-US" dirty="0"/>
              <a:t>Nonrefundable deposits and up-front payments</a:t>
            </a:r>
          </a:p>
        </p:txBody>
      </p:sp>
      <p:pic>
        <p:nvPicPr>
          <p:cNvPr id="8" name="Picture 7">
            <a:extLst>
              <a:ext uri="{FF2B5EF4-FFF2-40B4-BE49-F238E27FC236}">
                <a16:creationId xmlns:a16="http://schemas.microsoft.com/office/drawing/2014/main" id="{7ED52C67-CABF-1A2C-88FE-70DB0AFA8325}"/>
              </a:ext>
            </a:extLst>
          </p:cNvPr>
          <p:cNvPicPr>
            <a:picLocks noChangeAspect="1"/>
          </p:cNvPicPr>
          <p:nvPr/>
        </p:nvPicPr>
        <p:blipFill>
          <a:blip r:embed="rId4"/>
          <a:stretch>
            <a:fillRect/>
          </a:stretch>
        </p:blipFill>
        <p:spPr>
          <a:xfrm>
            <a:off x="1195076" y="4959511"/>
            <a:ext cx="4318495" cy="1637232"/>
          </a:xfrm>
          <a:prstGeom prst="rect">
            <a:avLst/>
          </a:prstGeom>
        </p:spPr>
      </p:pic>
    </p:spTree>
    <p:extLst>
      <p:ext uri="{BB962C8B-B14F-4D97-AF65-F5344CB8AC3E}">
        <p14:creationId xmlns:p14="http://schemas.microsoft.com/office/powerpoint/2010/main" val="3501594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55DBA-CC4F-6E3C-57DC-14FBA1C76D6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7AC831C-F30F-D3E8-B876-E8D38EA3AFA6}"/>
              </a:ext>
            </a:extLst>
          </p:cNvPr>
          <p:cNvSpPr>
            <a:spLocks noGrp="1"/>
          </p:cNvSpPr>
          <p:nvPr>
            <p:ph type="ctrTitle"/>
          </p:nvPr>
        </p:nvSpPr>
        <p:spPr>
          <a:xfrm>
            <a:off x="557135" y="3004590"/>
            <a:ext cx="11077730" cy="848819"/>
          </a:xfrm>
        </p:spPr>
        <p:txBody>
          <a:bodyPr>
            <a:normAutofit fontScale="90000"/>
          </a:bodyPr>
          <a:lstStyle/>
          <a:p>
            <a:r>
              <a:rPr lang="en-US" sz="7200"/>
              <a:t>Financial Analysis</a:t>
            </a:r>
          </a:p>
        </p:txBody>
      </p:sp>
      <p:sp>
        <p:nvSpPr>
          <p:cNvPr id="6" name="Rectangle 5">
            <a:extLst>
              <a:ext uri="{FF2B5EF4-FFF2-40B4-BE49-F238E27FC236}">
                <a16:creationId xmlns:a16="http://schemas.microsoft.com/office/drawing/2014/main" id="{2B51A63C-80FA-F933-1A2D-5E203177BC92}"/>
              </a:ext>
            </a:extLst>
          </p:cNvPr>
          <p:cNvSpPr/>
          <p:nvPr/>
        </p:nvSpPr>
        <p:spPr>
          <a:xfrm>
            <a:off x="0" y="0"/>
            <a:ext cx="12192000" cy="539646"/>
          </a:xfrm>
          <a:prstGeom prst="rect">
            <a:avLst/>
          </a:prstGeom>
          <a:solidFill>
            <a:srgbClr val="105A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D3406A9F-07D5-499B-DEF0-42516F199953}"/>
              </a:ext>
            </a:extLst>
          </p:cNvPr>
          <p:cNvPicPr>
            <a:picLocks noChangeAspect="1"/>
          </p:cNvPicPr>
          <p:nvPr/>
        </p:nvPicPr>
        <p:blipFill>
          <a:blip r:embed="rId2"/>
          <a:stretch>
            <a:fillRect/>
          </a:stretch>
        </p:blipFill>
        <p:spPr>
          <a:xfrm>
            <a:off x="67644" y="6143431"/>
            <a:ext cx="489491" cy="571317"/>
          </a:xfrm>
          <a:prstGeom prst="rect">
            <a:avLst/>
          </a:prstGeom>
        </p:spPr>
      </p:pic>
    </p:spTree>
    <p:extLst>
      <p:ext uri="{BB962C8B-B14F-4D97-AF65-F5344CB8AC3E}">
        <p14:creationId xmlns:p14="http://schemas.microsoft.com/office/powerpoint/2010/main" val="2768311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42B3F-10F1-FEEB-B16E-7697A6882D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DC5B76-730E-1C54-70EA-C1D7D83A84C4}"/>
              </a:ext>
            </a:extLst>
          </p:cNvPr>
          <p:cNvSpPr>
            <a:spLocks noGrp="1"/>
          </p:cNvSpPr>
          <p:nvPr>
            <p:ph type="title"/>
          </p:nvPr>
        </p:nvSpPr>
        <p:spPr/>
        <p:txBody>
          <a:bodyPr/>
          <a:lstStyle/>
          <a:p>
            <a:r>
              <a:rPr lang="en-US"/>
              <a:t>Income Statement</a:t>
            </a:r>
          </a:p>
        </p:txBody>
      </p:sp>
      <p:sp>
        <p:nvSpPr>
          <p:cNvPr id="4" name="Rectangle 3">
            <a:extLst>
              <a:ext uri="{FF2B5EF4-FFF2-40B4-BE49-F238E27FC236}">
                <a16:creationId xmlns:a16="http://schemas.microsoft.com/office/drawing/2014/main" id="{EC37125B-D93E-3015-246F-B22F0DFF9730}"/>
              </a:ext>
            </a:extLst>
          </p:cNvPr>
          <p:cNvSpPr/>
          <p:nvPr/>
        </p:nvSpPr>
        <p:spPr>
          <a:xfrm>
            <a:off x="0" y="0"/>
            <a:ext cx="12192000" cy="539646"/>
          </a:xfrm>
          <a:prstGeom prst="rect">
            <a:avLst/>
          </a:prstGeom>
          <a:solidFill>
            <a:srgbClr val="105A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1E14070-A787-7F59-60BB-5E32EE891BE4}"/>
              </a:ext>
            </a:extLst>
          </p:cNvPr>
          <p:cNvPicPr>
            <a:picLocks noChangeAspect="1"/>
          </p:cNvPicPr>
          <p:nvPr/>
        </p:nvPicPr>
        <p:blipFill>
          <a:blip r:embed="rId3"/>
          <a:stretch>
            <a:fillRect/>
          </a:stretch>
        </p:blipFill>
        <p:spPr>
          <a:xfrm>
            <a:off x="67644" y="6143431"/>
            <a:ext cx="489491" cy="571317"/>
          </a:xfrm>
          <a:prstGeom prst="rect">
            <a:avLst/>
          </a:prstGeom>
        </p:spPr>
      </p:pic>
      <p:pic>
        <p:nvPicPr>
          <p:cNvPr id="6" name="Picture 5" descr="A screenshot of a spreadsheet&#10;&#10;AI-generated content may be incorrect.">
            <a:extLst>
              <a:ext uri="{FF2B5EF4-FFF2-40B4-BE49-F238E27FC236}">
                <a16:creationId xmlns:a16="http://schemas.microsoft.com/office/drawing/2014/main" id="{CC97713D-9CC3-B018-9D6A-7263C93E55B7}"/>
              </a:ext>
            </a:extLst>
          </p:cNvPr>
          <p:cNvPicPr>
            <a:picLocks noChangeAspect="1"/>
          </p:cNvPicPr>
          <p:nvPr/>
        </p:nvPicPr>
        <p:blipFill>
          <a:blip r:embed="rId4"/>
          <a:stretch>
            <a:fillRect/>
          </a:stretch>
        </p:blipFill>
        <p:spPr>
          <a:xfrm>
            <a:off x="925774" y="1114769"/>
            <a:ext cx="10131692" cy="5681961"/>
          </a:xfrm>
          <a:prstGeom prst="rect">
            <a:avLst/>
          </a:prstGeom>
        </p:spPr>
      </p:pic>
    </p:spTree>
    <p:extLst>
      <p:ext uri="{BB962C8B-B14F-4D97-AF65-F5344CB8AC3E}">
        <p14:creationId xmlns:p14="http://schemas.microsoft.com/office/powerpoint/2010/main" val="14117809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4AEC0-F2B4-9A69-A9BA-2E6B9B96DE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CE8E71-F501-FF7E-DE01-AE8012B31CCC}"/>
              </a:ext>
            </a:extLst>
          </p:cNvPr>
          <p:cNvSpPr>
            <a:spLocks noGrp="1"/>
          </p:cNvSpPr>
          <p:nvPr>
            <p:ph type="title"/>
          </p:nvPr>
        </p:nvSpPr>
        <p:spPr/>
        <p:txBody>
          <a:bodyPr/>
          <a:lstStyle/>
          <a:p>
            <a:r>
              <a:rPr lang="en-US"/>
              <a:t>Revenue Build &amp; Projections</a:t>
            </a:r>
          </a:p>
        </p:txBody>
      </p:sp>
      <p:sp>
        <p:nvSpPr>
          <p:cNvPr id="4" name="Rectangle 3">
            <a:extLst>
              <a:ext uri="{FF2B5EF4-FFF2-40B4-BE49-F238E27FC236}">
                <a16:creationId xmlns:a16="http://schemas.microsoft.com/office/drawing/2014/main" id="{3A89E847-4A11-9A55-9050-1BDFFF058662}"/>
              </a:ext>
            </a:extLst>
          </p:cNvPr>
          <p:cNvSpPr/>
          <p:nvPr/>
        </p:nvSpPr>
        <p:spPr>
          <a:xfrm>
            <a:off x="0" y="0"/>
            <a:ext cx="12192000" cy="539646"/>
          </a:xfrm>
          <a:prstGeom prst="rect">
            <a:avLst/>
          </a:prstGeom>
          <a:solidFill>
            <a:srgbClr val="105A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3B4B9C5-B96A-346B-E017-779070DBAA2F}"/>
              </a:ext>
            </a:extLst>
          </p:cNvPr>
          <p:cNvPicPr>
            <a:picLocks noChangeAspect="1"/>
          </p:cNvPicPr>
          <p:nvPr/>
        </p:nvPicPr>
        <p:blipFill>
          <a:blip r:embed="rId3"/>
          <a:stretch>
            <a:fillRect/>
          </a:stretch>
        </p:blipFill>
        <p:spPr>
          <a:xfrm>
            <a:off x="67644" y="6143431"/>
            <a:ext cx="489491" cy="571317"/>
          </a:xfrm>
          <a:prstGeom prst="rect">
            <a:avLst/>
          </a:prstGeom>
        </p:spPr>
      </p:pic>
      <p:pic>
        <p:nvPicPr>
          <p:cNvPr id="6" name="Picture 5" descr="A screenshot of a spreadsheet&#10;&#10;AI-generated content may be incorrect.">
            <a:extLst>
              <a:ext uri="{FF2B5EF4-FFF2-40B4-BE49-F238E27FC236}">
                <a16:creationId xmlns:a16="http://schemas.microsoft.com/office/drawing/2014/main" id="{D2E471DC-ED24-C256-E4D7-477E70AAFD43}"/>
              </a:ext>
            </a:extLst>
          </p:cNvPr>
          <p:cNvPicPr>
            <a:picLocks noChangeAspect="1"/>
          </p:cNvPicPr>
          <p:nvPr/>
        </p:nvPicPr>
        <p:blipFill>
          <a:blip r:embed="rId4"/>
          <a:stretch>
            <a:fillRect/>
          </a:stretch>
        </p:blipFill>
        <p:spPr>
          <a:xfrm>
            <a:off x="67644" y="1902882"/>
            <a:ext cx="12134584" cy="3651251"/>
          </a:xfrm>
          <a:prstGeom prst="rect">
            <a:avLst/>
          </a:prstGeom>
        </p:spPr>
      </p:pic>
    </p:spTree>
    <p:extLst>
      <p:ext uri="{BB962C8B-B14F-4D97-AF65-F5344CB8AC3E}">
        <p14:creationId xmlns:p14="http://schemas.microsoft.com/office/powerpoint/2010/main" val="3534730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1A284-5478-5232-9CCF-8EFBA86F2A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97E4F3-FADD-2843-A4CA-4087670424D5}"/>
              </a:ext>
            </a:extLst>
          </p:cNvPr>
          <p:cNvSpPr>
            <a:spLocks noGrp="1"/>
          </p:cNvSpPr>
          <p:nvPr>
            <p:ph type="title"/>
          </p:nvPr>
        </p:nvSpPr>
        <p:spPr/>
        <p:txBody>
          <a:bodyPr/>
          <a:lstStyle/>
          <a:p>
            <a:r>
              <a:rPr lang="en-US"/>
              <a:t>Comps &amp; Valuation</a:t>
            </a:r>
          </a:p>
        </p:txBody>
      </p:sp>
      <p:sp>
        <p:nvSpPr>
          <p:cNvPr id="4" name="Rectangle 3">
            <a:extLst>
              <a:ext uri="{FF2B5EF4-FFF2-40B4-BE49-F238E27FC236}">
                <a16:creationId xmlns:a16="http://schemas.microsoft.com/office/drawing/2014/main" id="{70DC8A6F-7478-905C-18FB-5B4A361BED8E}"/>
              </a:ext>
            </a:extLst>
          </p:cNvPr>
          <p:cNvSpPr/>
          <p:nvPr/>
        </p:nvSpPr>
        <p:spPr>
          <a:xfrm>
            <a:off x="0" y="0"/>
            <a:ext cx="12192000" cy="539646"/>
          </a:xfrm>
          <a:prstGeom prst="rect">
            <a:avLst/>
          </a:prstGeom>
          <a:solidFill>
            <a:srgbClr val="105A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5AE9C53-8A62-947C-8D41-99CA134164B0}"/>
              </a:ext>
            </a:extLst>
          </p:cNvPr>
          <p:cNvPicPr>
            <a:picLocks noChangeAspect="1"/>
          </p:cNvPicPr>
          <p:nvPr/>
        </p:nvPicPr>
        <p:blipFill>
          <a:blip r:embed="rId3"/>
          <a:stretch>
            <a:fillRect/>
          </a:stretch>
        </p:blipFill>
        <p:spPr>
          <a:xfrm>
            <a:off x="67644" y="6143431"/>
            <a:ext cx="489491" cy="571317"/>
          </a:xfrm>
          <a:prstGeom prst="rect">
            <a:avLst/>
          </a:prstGeom>
        </p:spPr>
      </p:pic>
      <p:pic>
        <p:nvPicPr>
          <p:cNvPr id="6" name="Picture 5" descr="A screenshot of a computer screen&#10;&#10;AI-generated content may be incorrect.">
            <a:extLst>
              <a:ext uri="{FF2B5EF4-FFF2-40B4-BE49-F238E27FC236}">
                <a16:creationId xmlns:a16="http://schemas.microsoft.com/office/drawing/2014/main" id="{27689B79-8BB6-0D19-CB58-EB48159E0C99}"/>
              </a:ext>
            </a:extLst>
          </p:cNvPr>
          <p:cNvPicPr>
            <a:picLocks noChangeAspect="1"/>
          </p:cNvPicPr>
          <p:nvPr/>
        </p:nvPicPr>
        <p:blipFill>
          <a:blip r:embed="rId4"/>
          <a:stretch>
            <a:fillRect/>
          </a:stretch>
        </p:blipFill>
        <p:spPr>
          <a:xfrm>
            <a:off x="2584450" y="1155700"/>
            <a:ext cx="7023100" cy="2273300"/>
          </a:xfrm>
          <a:prstGeom prst="rect">
            <a:avLst/>
          </a:prstGeom>
        </p:spPr>
      </p:pic>
      <p:pic>
        <p:nvPicPr>
          <p:cNvPr id="7" name="Picture 6" descr="A screen shot of a document&#10;&#10;AI-generated content may be incorrect.">
            <a:extLst>
              <a:ext uri="{FF2B5EF4-FFF2-40B4-BE49-F238E27FC236}">
                <a16:creationId xmlns:a16="http://schemas.microsoft.com/office/drawing/2014/main" id="{927AB5FF-BFB6-0260-5493-49B21D9BDFBC}"/>
              </a:ext>
            </a:extLst>
          </p:cNvPr>
          <p:cNvPicPr>
            <a:picLocks noChangeAspect="1"/>
          </p:cNvPicPr>
          <p:nvPr/>
        </p:nvPicPr>
        <p:blipFill>
          <a:blip r:embed="rId5"/>
          <a:stretch>
            <a:fillRect/>
          </a:stretch>
        </p:blipFill>
        <p:spPr>
          <a:xfrm>
            <a:off x="612648" y="3636894"/>
            <a:ext cx="3576580" cy="3077854"/>
          </a:xfrm>
          <a:prstGeom prst="rect">
            <a:avLst/>
          </a:prstGeom>
        </p:spPr>
      </p:pic>
      <p:pic>
        <p:nvPicPr>
          <p:cNvPr id="11" name="Picture 10" descr="A screenshot of a computer screen&#10;&#10;AI-generated content may be incorrect.">
            <a:extLst>
              <a:ext uri="{FF2B5EF4-FFF2-40B4-BE49-F238E27FC236}">
                <a16:creationId xmlns:a16="http://schemas.microsoft.com/office/drawing/2014/main" id="{868B9F6E-F855-54CC-F655-D57955659484}"/>
              </a:ext>
            </a:extLst>
          </p:cNvPr>
          <p:cNvPicPr>
            <a:picLocks noChangeAspect="1"/>
          </p:cNvPicPr>
          <p:nvPr/>
        </p:nvPicPr>
        <p:blipFill>
          <a:blip r:embed="rId6"/>
          <a:stretch>
            <a:fillRect/>
          </a:stretch>
        </p:blipFill>
        <p:spPr>
          <a:xfrm>
            <a:off x="4349595" y="3646024"/>
            <a:ext cx="3708040" cy="3068723"/>
          </a:xfrm>
          <a:prstGeom prst="rect">
            <a:avLst/>
          </a:prstGeom>
        </p:spPr>
      </p:pic>
      <p:pic>
        <p:nvPicPr>
          <p:cNvPr id="14" name="Picture 13" descr="A screenshot of a report&#10;&#10;AI-generated content may be incorrect.">
            <a:extLst>
              <a:ext uri="{FF2B5EF4-FFF2-40B4-BE49-F238E27FC236}">
                <a16:creationId xmlns:a16="http://schemas.microsoft.com/office/drawing/2014/main" id="{CEB07038-FAC8-9B61-8F1F-F57DBF4DB30E}"/>
              </a:ext>
            </a:extLst>
          </p:cNvPr>
          <p:cNvPicPr>
            <a:picLocks noChangeAspect="1"/>
          </p:cNvPicPr>
          <p:nvPr/>
        </p:nvPicPr>
        <p:blipFill>
          <a:blip r:embed="rId7"/>
          <a:srcRect t="1903"/>
          <a:stretch>
            <a:fillRect/>
          </a:stretch>
        </p:blipFill>
        <p:spPr>
          <a:xfrm>
            <a:off x="8218002" y="3636893"/>
            <a:ext cx="3708040" cy="3077854"/>
          </a:xfrm>
          <a:prstGeom prst="rect">
            <a:avLst/>
          </a:prstGeom>
        </p:spPr>
      </p:pic>
    </p:spTree>
    <p:extLst>
      <p:ext uri="{BB962C8B-B14F-4D97-AF65-F5344CB8AC3E}">
        <p14:creationId xmlns:p14="http://schemas.microsoft.com/office/powerpoint/2010/main" val="25197969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A323E-EB4C-8D34-6ABD-937D712407A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C5C42C7-FC01-148A-ABC1-16754C405522}"/>
              </a:ext>
            </a:extLst>
          </p:cNvPr>
          <p:cNvSpPr>
            <a:spLocks noGrp="1"/>
          </p:cNvSpPr>
          <p:nvPr>
            <p:ph type="ctrTitle"/>
          </p:nvPr>
        </p:nvSpPr>
        <p:spPr>
          <a:xfrm>
            <a:off x="557135" y="2068310"/>
            <a:ext cx="11077730" cy="848819"/>
          </a:xfrm>
        </p:spPr>
        <p:txBody>
          <a:bodyPr>
            <a:normAutofit fontScale="90000"/>
          </a:bodyPr>
          <a:lstStyle/>
          <a:p>
            <a:r>
              <a:rPr lang="en-US" sz="7200"/>
              <a:t>Questions?</a:t>
            </a:r>
          </a:p>
        </p:txBody>
      </p:sp>
      <p:sp>
        <p:nvSpPr>
          <p:cNvPr id="6" name="Rectangle 5">
            <a:extLst>
              <a:ext uri="{FF2B5EF4-FFF2-40B4-BE49-F238E27FC236}">
                <a16:creationId xmlns:a16="http://schemas.microsoft.com/office/drawing/2014/main" id="{DE5CE948-2BE3-4BA9-160C-DBBEA22EED15}"/>
              </a:ext>
            </a:extLst>
          </p:cNvPr>
          <p:cNvSpPr/>
          <p:nvPr/>
        </p:nvSpPr>
        <p:spPr>
          <a:xfrm>
            <a:off x="0" y="0"/>
            <a:ext cx="12192000" cy="539646"/>
          </a:xfrm>
          <a:prstGeom prst="rect">
            <a:avLst/>
          </a:prstGeom>
          <a:solidFill>
            <a:srgbClr val="105A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2659D3E2-2D5E-B61A-1CDF-A6E58601C459}"/>
              </a:ext>
            </a:extLst>
          </p:cNvPr>
          <p:cNvPicPr>
            <a:picLocks noChangeAspect="1"/>
          </p:cNvPicPr>
          <p:nvPr/>
        </p:nvPicPr>
        <p:blipFill>
          <a:blip r:embed="rId2"/>
          <a:stretch>
            <a:fillRect/>
          </a:stretch>
        </p:blipFill>
        <p:spPr>
          <a:xfrm>
            <a:off x="67644" y="6143431"/>
            <a:ext cx="489491" cy="571317"/>
          </a:xfrm>
          <a:prstGeom prst="rect">
            <a:avLst/>
          </a:prstGeom>
        </p:spPr>
      </p:pic>
      <p:pic>
        <p:nvPicPr>
          <p:cNvPr id="2" name="Picture 1" descr="A black background with a black square&#10;&#10;AI-generated content may be incorrect.">
            <a:extLst>
              <a:ext uri="{FF2B5EF4-FFF2-40B4-BE49-F238E27FC236}">
                <a16:creationId xmlns:a16="http://schemas.microsoft.com/office/drawing/2014/main" id="{5EC052C1-A592-5D7E-8B4C-FFE5EB2EACAE}"/>
              </a:ext>
            </a:extLst>
          </p:cNvPr>
          <p:cNvPicPr>
            <a:picLocks noChangeAspect="1"/>
          </p:cNvPicPr>
          <p:nvPr/>
        </p:nvPicPr>
        <p:blipFill>
          <a:blip r:embed="rId3"/>
          <a:stretch>
            <a:fillRect/>
          </a:stretch>
        </p:blipFill>
        <p:spPr>
          <a:xfrm>
            <a:off x="3183372" y="3429000"/>
            <a:ext cx="5825256" cy="1747575"/>
          </a:xfrm>
          <a:prstGeom prst="rect">
            <a:avLst/>
          </a:prstGeom>
        </p:spPr>
      </p:pic>
    </p:spTree>
    <p:extLst>
      <p:ext uri="{BB962C8B-B14F-4D97-AF65-F5344CB8AC3E}">
        <p14:creationId xmlns:p14="http://schemas.microsoft.com/office/powerpoint/2010/main" val="895807542"/>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2949</TotalTime>
  <Words>1342</Words>
  <Application>Microsoft Macintosh PowerPoint</Application>
  <PresentationFormat>Widescreen</PresentationFormat>
  <Paragraphs>168</Paragraphs>
  <Slides>21</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Arial</vt:lpstr>
      <vt:lpstr>Neue Haas Grotesk Text Pro</vt:lpstr>
      <vt:lpstr>Wingdings</vt:lpstr>
      <vt:lpstr>VanillaVTI</vt:lpstr>
      <vt:lpstr>PowerPoint Presentation</vt:lpstr>
      <vt:lpstr>Company Overview</vt:lpstr>
      <vt:lpstr>Powell Industries, Inc.</vt:lpstr>
      <vt:lpstr>SWOT Analysis</vt:lpstr>
      <vt:lpstr>PowerPoint Presentation</vt:lpstr>
      <vt:lpstr>Industry Overview</vt:lpstr>
      <vt:lpstr>Industry Overview: Electrical Equipment</vt:lpstr>
      <vt:lpstr>Porter’s Five Forces</vt:lpstr>
      <vt:lpstr>PowerPoint Presentation</vt:lpstr>
      <vt:lpstr>Investment Thesis</vt:lpstr>
      <vt:lpstr>1. Healthy Backlog</vt:lpstr>
      <vt:lpstr>2. Strategic Acquisition</vt:lpstr>
      <vt:lpstr>3. Robust Balance Sheet</vt:lpstr>
      <vt:lpstr>Risks and Mitigants</vt:lpstr>
      <vt:lpstr>Competition and Market Share</vt:lpstr>
      <vt:lpstr>High Backlog Risk</vt:lpstr>
      <vt:lpstr>Financial Analysis</vt:lpstr>
      <vt:lpstr>Income Statement</vt:lpstr>
      <vt:lpstr>Revenue Build &amp; Projections</vt:lpstr>
      <vt:lpstr>Comps &amp; Valuation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Riya Patibandha</dc:creator>
  <cp:lastModifiedBy>Eric Yu</cp:lastModifiedBy>
  <cp:revision>6</cp:revision>
  <dcterms:created xsi:type="dcterms:W3CDTF">2025-11-15T00:11:42Z</dcterms:created>
  <dcterms:modified xsi:type="dcterms:W3CDTF">2026-10-01T20:34:35Z</dcterms:modified>
</cp:coreProperties>
</file>