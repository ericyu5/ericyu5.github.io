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  <p:embeddedFont>
      <p:font typeface="Merriweather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22" Type="http://schemas.openxmlformats.org/officeDocument/2006/relationships/font" Target="fonts/Merriweather-bold.fntdata"/><Relationship Id="rId10" Type="http://schemas.openxmlformats.org/officeDocument/2006/relationships/slide" Target="slides/slide5.xml"/><Relationship Id="rId21" Type="http://schemas.openxmlformats.org/officeDocument/2006/relationships/font" Target="fonts/Merriweather-regular.fntdata"/><Relationship Id="rId13" Type="http://schemas.openxmlformats.org/officeDocument/2006/relationships/slide" Target="slides/slide8.xml"/><Relationship Id="rId24" Type="http://schemas.openxmlformats.org/officeDocument/2006/relationships/font" Target="fonts/Merriweather-boldItalic.fntdata"/><Relationship Id="rId12" Type="http://schemas.openxmlformats.org/officeDocument/2006/relationships/slide" Target="slides/slide7.xml"/><Relationship Id="rId23" Type="http://schemas.openxmlformats.org/officeDocument/2006/relationships/font" Target="fonts/Merriweather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italic.fntdata"/><Relationship Id="rId6" Type="http://schemas.openxmlformats.org/officeDocument/2006/relationships/slide" Target="slides/slide1.xml"/><Relationship Id="rId18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f28abcc5ef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f28abcc5ef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f28abcc5ef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f28abcc5ef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f28abcc5ef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f28abcc5ef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f28abcc5ef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f28abcc5ef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f28abcc5ef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f28abcc5ef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f28abcc5ef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f28abcc5ef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f28abcc5ef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f28abcc5ef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f28abcc5ef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f28abcc5ef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f28abcc5ef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f28abcc5ef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f2fe0d85d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f2fe0d85d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/>
              <a:t>S4 Final Project Tesla</a:t>
            </a:r>
            <a:endParaRPr sz="4900"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Eric Yu</a:t>
            </a:r>
            <a:endParaRPr sz="2800"/>
          </a:p>
        </p:txBody>
      </p:sp>
      <p:pic>
        <p:nvPicPr>
          <p:cNvPr descr="File:Tesla logo.png - Wikipedia" id="66" name="Google Shape;6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7200" y="1417300"/>
            <a:ext cx="1943100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Strengths</a:t>
            </a:r>
            <a:endParaRPr sz="4000"/>
          </a:p>
        </p:txBody>
      </p:sp>
      <p:sp>
        <p:nvSpPr>
          <p:cNvPr id="72" name="Google Shape;72;p1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Hiring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Name Recognition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Marketing Strategy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Innovation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Market </a:t>
            </a:r>
            <a:r>
              <a:rPr lang="en" sz="2500"/>
              <a:t>Dominance</a:t>
            </a:r>
            <a:r>
              <a:rPr lang="en" sz="2500"/>
              <a:t> </a:t>
            </a:r>
            <a:endParaRPr sz="2500"/>
          </a:p>
        </p:txBody>
      </p:sp>
      <p:pic>
        <p:nvPicPr>
          <p:cNvPr descr="Tesla still owns US EV market but is losing market share, shows new data" id="73" name="Google Shape;73;p14"/>
          <p:cNvPicPr preferRelativeResize="0"/>
          <p:nvPr/>
        </p:nvPicPr>
        <p:blipFill rotWithShape="1">
          <a:blip r:embed="rId3">
            <a:alphaModFix/>
          </a:blip>
          <a:srcRect b="17611" l="915" r="65941" t="20180"/>
          <a:stretch/>
        </p:blipFill>
        <p:spPr>
          <a:xfrm>
            <a:off x="5322200" y="2844925"/>
            <a:ext cx="2038274" cy="20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Weaknesses</a:t>
            </a:r>
            <a:endParaRPr sz="4000"/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Unreliable Targets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Manufacturing Delays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Controversial CEO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Cost</a:t>
            </a:r>
            <a:endParaRPr sz="2500"/>
          </a:p>
        </p:txBody>
      </p:sp>
      <p:pic>
        <p:nvPicPr>
          <p:cNvPr descr="What to know about the Tesla Cybertruck ahead of its delivery event - ABC  News"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1950" y="2623350"/>
            <a:ext cx="3971859" cy="234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Opportunities</a:t>
            </a:r>
            <a:endParaRPr sz="4000"/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More Products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Affordability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Auto Pilot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Further Innovation</a:t>
            </a:r>
            <a:endParaRPr sz="2500"/>
          </a:p>
        </p:txBody>
      </p:sp>
      <p:pic>
        <p:nvPicPr>
          <p:cNvPr descr="How Tesla's Autopilot Works - Business Insider"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6900" y="2481800"/>
            <a:ext cx="3167350" cy="237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Threats</a:t>
            </a:r>
            <a:endParaRPr sz="4000"/>
          </a:p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Other EVs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Laws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Consumer </a:t>
            </a:r>
            <a:r>
              <a:rPr lang="en" sz="2500"/>
              <a:t>Adaptability</a:t>
            </a:r>
            <a:endParaRPr sz="2500"/>
          </a:p>
        </p:txBody>
      </p:sp>
      <p:pic>
        <p:nvPicPr>
          <p:cNvPr descr="Tesla vs. Rivian: Which EV Maker Did Better in 2023? | PCMag"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1250" y="2571750"/>
            <a:ext cx="3973240" cy="2238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Diversity, Equity, and Inclusion</a:t>
            </a:r>
            <a:endParaRPr sz="4000"/>
          </a:p>
        </p:txBody>
      </p:sp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00"/>
              <a:t>66% of Tesla’s employees are from underrepresented communities, but drops to 39% for employees in leadership positions.</a:t>
            </a:r>
            <a:endParaRPr sz="200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 sz="2000"/>
              <a:t>Focus</a:t>
            </a:r>
            <a:r>
              <a:rPr lang="en" sz="2000"/>
              <a:t> on attracting, developing, and retaining talent</a:t>
            </a:r>
            <a:endParaRPr sz="200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 sz="2000"/>
              <a:t>Integrate</a:t>
            </a:r>
            <a:r>
              <a:rPr lang="en" sz="2000"/>
              <a:t> diversity, equity and inclusion principles and practices into the DNA of the company</a:t>
            </a:r>
            <a:endParaRPr sz="200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 sz="2000"/>
              <a:t>Connect</a:t>
            </a:r>
            <a:r>
              <a:rPr lang="en" sz="2000"/>
              <a:t> communities internally and externally to opportunities with Tesla</a:t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Organization </a:t>
            </a:r>
            <a:r>
              <a:rPr lang="en" sz="4000"/>
              <a:t>Structure</a:t>
            </a:r>
            <a:endParaRPr sz="4000"/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Tesla has a functional structure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Organized into different departments based on areas of expertise such as research, design, development, marketing, finance, and HR.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Clear path forward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Specialization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11675" y="30115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The Current Event</a:t>
            </a:r>
            <a:endParaRPr sz="4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306975" y="324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Tesla shareholders approve $46 billion pay package for CEO Elon Musk</a:t>
            </a:r>
            <a:endParaRPr sz="4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Impact</a:t>
            </a:r>
            <a:endParaRPr sz="4000"/>
          </a:p>
        </p:txBody>
      </p:sp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4675800" y="283900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Musk gets a payday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More </a:t>
            </a:r>
            <a:r>
              <a:rPr lang="en" sz="2000"/>
              <a:t>likely</a:t>
            </a:r>
            <a:r>
              <a:rPr lang="en" sz="2000"/>
              <a:t> for Musk to stay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304 million shares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Biggest pay package for CEO ever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Ethical</a:t>
            </a:r>
            <a:endParaRPr sz="20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pic>
        <p:nvPicPr>
          <p:cNvPr descr="Tesla Shareholders Approve Elon Musk's $56 Billion Pay Package" id="123" name="Google Shape;12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4625" y="2571750"/>
            <a:ext cx="3406550" cy="227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What’s Next?</a:t>
            </a:r>
            <a:endParaRPr sz="4000"/>
          </a:p>
        </p:txBody>
      </p:sp>
      <p:sp>
        <p:nvSpPr>
          <p:cNvPr id="129" name="Google Shape;129;p23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Musk will continue to </a:t>
            </a:r>
            <a:r>
              <a:rPr lang="en" sz="2000"/>
              <a:t>innovate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Compensation for shareholders and employees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Dispute with court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Uncertain turnout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pic>
        <p:nvPicPr>
          <p:cNvPr descr="The best Tesla models and features coming by 2025: all you need to know |  Carwow" id="130" name="Google Shape;13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2613900"/>
            <a:ext cx="4166400" cy="20881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